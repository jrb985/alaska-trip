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F5A623"/>
                </a:solidFill>
                <a:latin typeface="Segoe UI"/>
              </a:rPr>
              <a:t>MOTORCYCLE EXPEDITION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65960"/>
            <a:ext cx="106070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6000" b="1">
                <a:solidFill>
                  <a:srgbClr val="FFFFFF"/>
                </a:solidFill>
                <a:latin typeface="Segoe UI Light"/>
              </a:rPr>
              <a:t>Seattle → Deadhorse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108960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0">
                <a:solidFill>
                  <a:srgbClr val="4FC3F7"/>
                </a:solidFill>
                <a:latin typeface="Segoe UI Light"/>
              </a:rPr>
              <a:t>The Dalton Highway to the Arctic Ocean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4023360"/>
            <a:ext cx="1463040" cy="27432"/>
          </a:xfrm>
          <a:prstGeom prst="rect">
            <a:avLst/>
          </a:prstGeom>
          <a:solidFill>
            <a:srgbClr val="8C9E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2976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E8EEF4"/>
                </a:solidFill>
                <a:latin typeface="Segoe UI"/>
              </a:rPr>
              <a:t>2002 BMW F650GS  (base)   ·   6,208 mi   ·   31 days   ·   + Denali + Top of the World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736592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F5A623"/>
                </a:solidFill>
                <a:latin typeface="Segoe UI"/>
              </a:rPr>
              <a:t>Depart Sat Jun 26, 2027   ·   Home Mon Jul 26, 2027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349240"/>
            <a:ext cx="2487168" cy="914400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4128" y="5513832"/>
            <a:ext cx="21945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1">
                <a:solidFill>
                  <a:srgbClr val="8C9EB0"/>
                </a:solidFill>
                <a:latin typeface="Segoe UI"/>
              </a:rPr>
              <a:t>TOTAL DISTANCE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5760720"/>
            <a:ext cx="2240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b="1">
                <a:solidFill>
                  <a:srgbClr val="4FC3F7"/>
                </a:solidFill>
                <a:latin typeface="Segoe UI"/>
              </a:rPr>
              <a:t>6,208 mi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20440" y="5349240"/>
            <a:ext cx="2487168" cy="914400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21608" y="5513832"/>
            <a:ext cx="21945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1">
                <a:solidFill>
                  <a:srgbClr val="8C9EB0"/>
                </a:solidFill>
                <a:latin typeface="Segoe UI"/>
              </a:rPr>
              <a:t>DALTON: JUL 8–12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21608" y="5760720"/>
            <a:ext cx="2240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b="1">
                <a:solidFill>
                  <a:srgbClr val="F5A623"/>
                </a:solidFill>
                <a:latin typeface="Segoe UI"/>
              </a:rPr>
              <a:t>414 mi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5349240"/>
            <a:ext cx="2487168" cy="914400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19088" y="5513832"/>
            <a:ext cx="21945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1">
                <a:solidFill>
                  <a:srgbClr val="8C9EB0"/>
                </a:solidFill>
                <a:latin typeface="Segoe UI"/>
              </a:rPr>
              <a:t>LONGEST FUEL GAP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9088" y="5760720"/>
            <a:ext cx="2240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b="1">
                <a:solidFill>
                  <a:srgbClr val="E2564D"/>
                </a:solidFill>
                <a:latin typeface="Segoe UI"/>
              </a:rPr>
              <a:t>239 mi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15400" y="5349240"/>
            <a:ext cx="2487168" cy="914400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16568" y="5513832"/>
            <a:ext cx="21945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1">
                <a:solidFill>
                  <a:srgbClr val="8C9EB0"/>
                </a:solidFill>
                <a:latin typeface="Segoe UI"/>
              </a:rPr>
              <a:t>BUDGET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16568" y="5760720"/>
            <a:ext cx="2240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b="1">
                <a:solidFill>
                  <a:srgbClr val="4CAF7D"/>
                </a:solidFill>
                <a:latin typeface="Segoe UI"/>
              </a:rPr>
              <a:t>~$9,600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54864" cy="384048"/>
          </a:xfrm>
          <a:prstGeom prst="rect">
            <a:avLst/>
          </a:prstGeom>
          <a:solidFill>
            <a:srgbClr val="E256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54864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E2564D"/>
                </a:solidFill>
                <a:latin typeface="Segoe UI"/>
              </a:rPr>
              <a:t>THE FINDING THAT RESHAPED THIS TRIP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822960"/>
            <a:ext cx="10698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900" b="1">
                <a:solidFill>
                  <a:srgbClr val="E8EEF4"/>
                </a:solidFill>
                <a:latin typeface="Segoe UI Light"/>
              </a:rPr>
              <a:t>You cannot ride to Nome.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1645920"/>
            <a:ext cx="10469880" cy="1188720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 w="19050">
            <a:solidFill>
              <a:srgbClr val="E256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1847088"/>
            <a:ext cx="9875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600" b="1">
                <a:solidFill>
                  <a:srgbClr val="E8EEF4"/>
                </a:solidFill>
                <a:latin typeface="Segoe UI"/>
              </a:rPr>
              <a:t>Nome has NO road connection to the North American highway system.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600" b="1">
                <a:solidFill>
                  <a:srgbClr val="E8EEF4"/>
                </a:solidFill>
                <a:latin typeface="Segoe UI"/>
              </a:rPr>
              <a:t>It is a fly-in / barge-in town. No highway reaches it from Fairbanks, Anchorage, or anywhere else.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01752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400" b="0">
                <a:solidFill>
                  <a:srgbClr val="8C9EB0"/>
                </a:solidFill>
                <a:latin typeface="Segoe UI"/>
              </a:rPr>
              <a:t>Nome does have ~250–350 mi of its own gravel roads (Teller, Council, Kougarok) — but that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400" b="0">
                <a:solidFill>
                  <a:srgbClr val="8C9EB0"/>
                </a:solidFill>
                <a:latin typeface="Segoe UI"/>
              </a:rPr>
              <a:t>network is an island. It dead-ends into tundra and connects to nothing.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913632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F5A623"/>
                </a:solidFill>
                <a:latin typeface="Segoe UI"/>
              </a:rPr>
              <a:t>OPTIONS CONSIDERED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4251960"/>
            <a:ext cx="2487168" cy="1325880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9848" y="4407408"/>
            <a:ext cx="2148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1">
                <a:solidFill>
                  <a:srgbClr val="E8EEF4"/>
                </a:solidFill>
                <a:latin typeface="Segoe UI"/>
              </a:rPr>
              <a:t>Fly the bike over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" y="4754880"/>
            <a:ext cx="21488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50" b="0">
                <a:solidFill>
                  <a:srgbClr val="8C9EB0"/>
                </a:solidFill>
                <a:latin typeface="Segoe UI"/>
              </a:rPr>
              <a:t>Air freight from Anchorage.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50" b="0">
                <a:solidFill>
                  <a:srgbClr val="8C9EB0"/>
                </a:solidFill>
                <a:latin typeface="Segoe UI"/>
              </a:rPr>
              <a:t>Real, but +$1.5–3k and 5–7 days.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38728" y="4251960"/>
            <a:ext cx="2487168" cy="1325880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39896" y="4407408"/>
            <a:ext cx="2148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1">
                <a:solidFill>
                  <a:srgbClr val="E8EEF4"/>
                </a:solidFill>
                <a:latin typeface="Segoe UI"/>
              </a:rPr>
              <a:t>Barge the bike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9896" y="4754880"/>
            <a:ext cx="21488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50" b="0">
                <a:solidFill>
                  <a:srgbClr val="8C9EB0"/>
                </a:solidFill>
                <a:latin typeface="Segoe UI"/>
              </a:rPr>
              <a:t>Cheap-ish, slow,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50" b="0">
                <a:solidFill>
                  <a:srgbClr val="8C9EB0"/>
                </a:solidFill>
                <a:latin typeface="Segoe UI"/>
              </a:rPr>
              <a:t>schedule-bound.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08776" y="4251960"/>
            <a:ext cx="2487168" cy="1325880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9944" y="4407408"/>
            <a:ext cx="2148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1">
                <a:solidFill>
                  <a:srgbClr val="E8EEF4"/>
                </a:solidFill>
                <a:latin typeface="Segoe UI"/>
              </a:rPr>
              <a:t>Winter overland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9944" y="4754880"/>
            <a:ext cx="21488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50" b="0">
                <a:solidFill>
                  <a:srgbClr val="8C9EB0"/>
                </a:solidFill>
                <a:latin typeface="Segoe UI"/>
              </a:rPr>
              <a:t>Done before. Expedition-grade.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50" b="0">
                <a:solidFill>
                  <a:srgbClr val="8C9EB0"/>
                </a:solidFill>
                <a:latin typeface="Segoe UI"/>
              </a:rPr>
              <a:t>Genuinely dangerous.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878824" y="4251960"/>
            <a:ext cx="2487168" cy="1325880"/>
          </a:xfrm>
          <a:prstGeom prst="roundRect">
            <a:avLst>
              <a:gd name="adj" fmla="val 5000"/>
            </a:avLst>
          </a:prstGeom>
          <a:solidFill>
            <a:srgbClr val="22354B"/>
          </a:solidFill>
          <a:ln w="19050">
            <a:solidFill>
              <a:srgbClr val="4CAF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79992" y="4407408"/>
            <a:ext cx="2148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1">
                <a:solidFill>
                  <a:srgbClr val="4CAF7D"/>
                </a:solidFill>
                <a:latin typeface="Segoe UI"/>
              </a:rPr>
              <a:t>Deadhorse instead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79992" y="4754880"/>
            <a:ext cx="21488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50" b="0">
                <a:solidFill>
                  <a:srgbClr val="8C9EB0"/>
                </a:solidFill>
                <a:latin typeface="Segoe UI"/>
              </a:rPr>
              <a:t>Road-continuous.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50" b="0">
                <a:solidFill>
                  <a:srgbClr val="8C9EB0"/>
                </a:solidFill>
                <a:latin typeface="Segoe UI"/>
              </a:rPr>
              <a:t>The true end of the road.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" y="5742432"/>
            <a:ext cx="10469880" cy="502920"/>
          </a:xfrm>
          <a:prstGeom prst="roundRect">
            <a:avLst>
              <a:gd name="adj" fmla="val 5000"/>
            </a:avLst>
          </a:prstGeom>
          <a:solidFill>
            <a:srgbClr val="2235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88720" y="5861304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4CAF7D"/>
                </a:solidFill>
                <a:latin typeface="Segoe UI"/>
              </a:rPr>
              <a:t>DECISION:  Deadhorse / Prudhoe Bay via the Dalton Highway.   Nome parked as a possible future add-on.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81360" y="6419088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8C9EB0"/>
                </a:solidFill>
                <a:latin typeface="Segoe UI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41908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8C9EB0"/>
                </a:solidFill>
                <a:latin typeface="Segoe UI"/>
              </a:rPr>
              <a:t>Seattle → Deadhorse  ·  2002 BMW F650GS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54864" cy="384048"/>
          </a:xfrm>
          <a:prstGeom prst="rect">
            <a:avLst/>
          </a:prstGeom>
          <a:solidFill>
            <a:srgbClr val="4FC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54864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4FC3F7"/>
                </a:solidFill>
                <a:latin typeface="Segoe UI"/>
              </a:rPr>
              <a:t>ROUTE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822960"/>
            <a:ext cx="10698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900" b="1">
                <a:solidFill>
                  <a:srgbClr val="E8EEF4"/>
                </a:solidFill>
                <a:latin typeface="Segoe UI Light"/>
              </a:rPr>
              <a:t>Seattle → BC → Yukon → Fairbanks → Deadhorse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55448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F5A623"/>
                </a:solidFill>
                <a:latin typeface="Segoe UI"/>
              </a:rPr>
              <a:t>Ride a LOOP: north one corridor, south the other. Same mileage, double the country.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057400"/>
            <a:ext cx="5120640" cy="1600200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 w="15240">
            <a:solidFill>
              <a:srgbClr val="4FC3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212848"/>
            <a:ext cx="4572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1">
                <a:solidFill>
                  <a:srgbClr val="4FC3F7"/>
                </a:solidFill>
                <a:latin typeface="Segoe UI"/>
              </a:rPr>
              <a:t>NORTHBOUND — Stewart–Cassiar (BC-37)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2560320"/>
            <a:ext cx="461772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E8EEF4"/>
                </a:solidFill>
                <a:latin typeface="Segoe UI"/>
              </a:rPr>
              <a:t>~450 mi · Remote, quiet, fully paved.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E8EEF4"/>
                </a:solidFill>
                <a:latin typeface="Segoe UI"/>
              </a:rPr>
              <a:t>More wildlife, fewer services.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E8EEF4"/>
                </a:solidFill>
                <a:latin typeface="Segoe UI"/>
              </a:rPr>
              <a:t>Side trip to Stewart/Hyder is worth 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2057400"/>
            <a:ext cx="5120640" cy="1600200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2212848"/>
            <a:ext cx="4572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1">
                <a:solidFill>
                  <a:srgbClr val="F5A623"/>
                </a:solidFill>
                <a:latin typeface="Segoe UI"/>
              </a:rPr>
              <a:t>SOUTHBOUND — Alaska Highway (Alcan)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560320"/>
            <a:ext cx="461772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E8EEF4"/>
                </a:solidFill>
                <a:latin typeface="Segoe UI"/>
              </a:rPr>
              <a:t>1,387 mi Dawson Creek → Delta Junction.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E8EEF4"/>
                </a:solidFill>
                <a:latin typeface="Segoe UI"/>
              </a:rPr>
              <a:t>More services, more traffic.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E8EEF4"/>
                </a:solidFill>
                <a:latin typeface="Segoe UI"/>
              </a:rPr>
              <a:t>The historic route.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85876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8C9EB0"/>
                </a:solidFill>
                <a:latin typeface="Segoe UI"/>
              </a:rPr>
              <a:t>LEG DISTANCES  (one way, via Cassiar — planning estimates)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" y="4206240"/>
            <a:ext cx="2487168" cy="493776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14983" y="4334255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8C9EB0"/>
                </a:solidFill>
                <a:latin typeface="Segoe UI"/>
              </a:rPr>
              <a:t>Seattle → Prince George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15768" y="4315968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E8EEF4"/>
                </a:solidFill>
                <a:latin typeface="Segoe UI"/>
              </a:rPr>
              <a:t>800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538728" y="4206240"/>
            <a:ext cx="2487168" cy="493776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85032" y="4334255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8C9EB0"/>
                </a:solidFill>
                <a:latin typeface="Segoe UI"/>
              </a:rPr>
              <a:t>Prince George → Kitwanga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85816" y="4315968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E8EEF4"/>
                </a:solidFill>
                <a:latin typeface="Segoe UI"/>
              </a:rPr>
              <a:t>450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4206240"/>
            <a:ext cx="2487168" cy="493776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55080" y="4334255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8C9EB0"/>
                </a:solidFill>
                <a:latin typeface="Segoe UI"/>
              </a:rPr>
              <a:t>Cassiar → Alaska Hwy jct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55864" y="4315968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E8EEF4"/>
                </a:solidFill>
                <a:latin typeface="Segoe UI"/>
              </a:rPr>
              <a:t>450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878824" y="4206240"/>
            <a:ext cx="2487168" cy="493776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25128" y="4334255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8C9EB0"/>
                </a:solidFill>
                <a:latin typeface="Segoe UI"/>
              </a:rPr>
              <a:t>Watson Lake → Whitehorse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25911" y="4315968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E8EEF4"/>
                </a:solidFill>
                <a:latin typeface="Segoe UI"/>
              </a:rPr>
              <a:t>275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8680" y="4809744"/>
            <a:ext cx="2487168" cy="493776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14983" y="4937759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8C9EB0"/>
                </a:solidFill>
                <a:latin typeface="Segoe UI"/>
              </a:rPr>
              <a:t>Whitehorse → Tok, AK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15768" y="4919472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E8EEF4"/>
                </a:solidFill>
                <a:latin typeface="Segoe UI"/>
              </a:rPr>
              <a:t>400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538728" y="4809744"/>
            <a:ext cx="2487168" cy="493776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85032" y="4937759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8C9EB0"/>
                </a:solidFill>
                <a:latin typeface="Segoe UI"/>
              </a:rPr>
              <a:t>Tok → Fairbanks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85816" y="4919472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E8EEF4"/>
                </a:solidFill>
                <a:latin typeface="Segoe UI"/>
              </a:rPr>
              <a:t>200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08776" y="4809744"/>
            <a:ext cx="2487168" cy="493776"/>
          </a:xfrm>
          <a:prstGeom prst="roundRect">
            <a:avLst>
              <a:gd name="adj" fmla="val 5000"/>
            </a:avLst>
          </a:prstGeom>
          <a:solidFill>
            <a:srgbClr val="2235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55080" y="4937759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F5A623"/>
                </a:solidFill>
                <a:latin typeface="Segoe UI"/>
              </a:rPr>
              <a:t>Fairbanks → Deadhorse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55864" y="4919472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F5A623"/>
                </a:solidFill>
                <a:latin typeface="Segoe UI"/>
              </a:rPr>
              <a:t>500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878824" y="4809744"/>
            <a:ext cx="2487168" cy="493776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 w="16510">
            <a:solidFill>
              <a:srgbClr val="4CAF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025128" y="4937760"/>
            <a:ext cx="1600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8C9EB0"/>
                </a:solidFill>
                <a:latin typeface="Segoe UI"/>
              </a:rPr>
              <a:t>SEATTLE → DEADHORSE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314432" y="4901184"/>
            <a:ext cx="886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4CAF7D"/>
                </a:solidFill>
                <a:latin typeface="Segoe UI"/>
              </a:rPr>
              <a:t>≈3,000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" y="566928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E8EEF4"/>
                </a:solidFill>
                <a:latin typeface="Segoe UI"/>
              </a:rPr>
              <a:t>Round trip ≈ 6,000–6,500 mi.   Budget 3–4 weeks at a sane pace.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881360" y="6419088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8C9EB0"/>
                </a:solidFill>
                <a:latin typeface="Segoe UI"/>
              </a:rPr>
              <a:t>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" y="641908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8C9EB0"/>
                </a:solidFill>
                <a:latin typeface="Segoe UI"/>
              </a:rPr>
              <a:t>Seattle → Deadhorse  ·  2002 BMW F650GS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54864" cy="384048"/>
          </a:xfrm>
          <a:prstGeom prst="rect">
            <a:avLst/>
          </a:prstGeom>
          <a:solidFill>
            <a:srgbClr val="E256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54864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E2564D"/>
                </a:solidFill>
                <a:latin typeface="Segoe UI"/>
              </a:rPr>
              <a:t>THE DALTON HIGHWAY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822960"/>
            <a:ext cx="10698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900" b="1">
                <a:solidFill>
                  <a:srgbClr val="E8EEF4"/>
                </a:solidFill>
                <a:latin typeface="Segoe UI Light"/>
              </a:rPr>
              <a:t>Everything south of Fairbanks is a normal trip. This isn't.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55448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0">
                <a:solidFill>
                  <a:srgbClr val="E8EEF4"/>
                </a:solidFill>
                <a:latin typeface="Segoe UI"/>
              </a:rPr>
              <a:t>414 miles, Livengood → Deadhorse. Majority unpaved. No cell service.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103120"/>
            <a:ext cx="10469880" cy="1143000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68680" y="2103120"/>
            <a:ext cx="54864" cy="114300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249424"/>
            <a:ext cx="3200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F5A623"/>
                </a:solidFill>
                <a:latin typeface="Segoe UI"/>
              </a:rPr>
              <a:t>TRUCKS OWN THE ROAD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6280" y="2231136"/>
            <a:ext cx="6675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E8EEF4"/>
                </a:solidFill>
                <a:latin typeface="Segoe UI"/>
              </a:rPr>
              <a:t>Heavy oilfield traffic. Get over, slow down, expect flying rock.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E8EEF4"/>
                </a:solidFill>
                <a:latin typeface="Segoe UI"/>
              </a:rPr>
              <a:t>Truck-thrown stone is the #1 source of damage.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3401568"/>
            <a:ext cx="10469880" cy="1143000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3401568"/>
            <a:ext cx="54864" cy="1143000"/>
          </a:xfrm>
          <a:prstGeom prst="rect">
            <a:avLst/>
          </a:prstGeom>
          <a:solidFill>
            <a:srgbClr val="E256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547872"/>
            <a:ext cx="3200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E2564D"/>
                </a:solidFill>
                <a:latin typeface="Segoe UI"/>
              </a:rPr>
              <a:t>CALCIUM CHLORIDE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3529584"/>
            <a:ext cx="6675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E8EEF4"/>
                </a:solidFill>
                <a:latin typeface="Segoe UI"/>
              </a:rPr>
              <a:t>Dry: packs hard, feels like pavement, lulls you.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E8EEF4"/>
                </a:solidFill>
                <a:latin typeface="Segoe UI"/>
              </a:rPr>
              <a:t>WET: greasy 'peanut butter' — it WILL put you down.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E8EEF4"/>
                </a:solidFill>
                <a:latin typeface="Segoe UI"/>
              </a:rPr>
              <a:t>Also corrosive — wash the bike immediately after.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8680" y="4700016"/>
            <a:ext cx="10469880" cy="1143000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68680" y="4700016"/>
            <a:ext cx="54864" cy="1143000"/>
          </a:xfrm>
          <a:prstGeom prst="rect">
            <a:avLst/>
          </a:prstGeom>
          <a:solidFill>
            <a:srgbClr val="4FC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8720" y="4846320"/>
            <a:ext cx="3200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4FC3F7"/>
                </a:solidFill>
                <a:latin typeface="Segoe UI"/>
              </a:rPr>
              <a:t>ATIGUN PASS · 4,739 ft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4828031"/>
            <a:ext cx="6675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E8EEF4"/>
                </a:solidFill>
                <a:latin typeface="Segoe UI"/>
              </a:rPr>
              <a:t>Weather can be full winter in any month.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E8EEF4"/>
                </a:solidFill>
                <a:latin typeface="Segoe UI"/>
              </a:rPr>
              <a:t>No services. No signal. No help.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8680" y="5989320"/>
            <a:ext cx="10469880" cy="384048"/>
          </a:xfrm>
          <a:prstGeom prst="roundRect">
            <a:avLst>
              <a:gd name="adj" fmla="val 5000"/>
            </a:avLst>
          </a:prstGeom>
          <a:solidFill>
            <a:srgbClr val="2235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88720" y="606247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4FC3F7"/>
                </a:solidFill>
                <a:latin typeface="Segoe UI"/>
              </a:rPr>
              <a:t>PACING:  4 days from Fairbanks and back.   Fairbanks → Coldfoot → Deadhorse → Coldfoot → Fairbanks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419088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8C9EB0"/>
                </a:solidFill>
                <a:latin typeface="Segoe U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41908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8C9EB0"/>
                </a:solidFill>
                <a:latin typeface="Segoe UI"/>
              </a:rPr>
              <a:t>Seattle → Deadhorse  ·  2002 BMW F650GS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54864" cy="384048"/>
          </a:xfrm>
          <a:prstGeom prst="rect">
            <a:avLst/>
          </a:prstGeom>
          <a:solidFill>
            <a:srgbClr val="E256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54864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E2564D"/>
                </a:solidFill>
                <a:latin typeface="Segoe UI"/>
              </a:rPr>
              <a:t>CONSTRAINT #1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822960"/>
            <a:ext cx="10698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900" b="1">
                <a:solidFill>
                  <a:srgbClr val="E8EEF4"/>
                </a:solidFill>
                <a:latin typeface="Segoe UI Light"/>
              </a:rPr>
              <a:t>The fuel gap is longer than your range.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536192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E8EEF4"/>
                </a:solidFill>
                <a:latin typeface="Segoe UI"/>
              </a:rPr>
              <a:t>Fuel exists at exactly THREE places on the Dalton.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1938528"/>
            <a:ext cx="3291840" cy="658368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9848" y="2048256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E8EEF4"/>
                </a:solidFill>
                <a:latin typeface="Segoe UI"/>
              </a:rPr>
              <a:t>YUKON RIVER CAMP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" y="2286000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8C9EB0"/>
                </a:solidFill>
                <a:latin typeface="Segoe UI"/>
              </a:rPr>
              <a:t>MP 56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1938528"/>
            <a:ext cx="3291840" cy="658368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36007" y="2048256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E8EEF4"/>
                </a:solidFill>
                <a:latin typeface="Segoe UI"/>
              </a:rPr>
              <a:t>COLDFOOT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6007" y="2286000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8C9EB0"/>
                </a:solidFill>
                <a:latin typeface="Segoe UI"/>
              </a:rPr>
              <a:t>MP 175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01000" y="1938528"/>
            <a:ext cx="3291840" cy="658368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02168" y="2048256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E8EEF4"/>
                </a:solidFill>
                <a:latin typeface="Segoe UI"/>
              </a:rPr>
              <a:t>DEADHORSE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02168" y="2286000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8C9EB0"/>
                </a:solidFill>
                <a:latin typeface="Segoe UI"/>
              </a:rPr>
              <a:t>MP 414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2816352"/>
            <a:ext cx="10469880" cy="1737360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 w="19050">
            <a:solidFill>
              <a:srgbClr val="E256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8720" y="2980944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E2564D"/>
                </a:solidFill>
                <a:latin typeface="Segoe UI"/>
              </a:rPr>
              <a:t>COLDFOOT → DEADHORSE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3255264"/>
            <a:ext cx="6400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8C9EB0"/>
                </a:solidFill>
                <a:latin typeface="Segoe UI"/>
              </a:rPr>
              <a:t>Longest fuel gap on ANY public road in the United States.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88720" y="3749039"/>
            <a:ext cx="6949440" cy="274320"/>
          </a:xfrm>
          <a:prstGeom prst="rect">
            <a:avLst/>
          </a:prstGeom>
          <a:solidFill>
            <a:srgbClr val="E256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75320" y="3721608"/>
            <a:ext cx="2926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E2564D"/>
                </a:solidFill>
                <a:latin typeface="Segoe UI"/>
              </a:rPr>
              <a:t>239 mi   FUEL GAP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188720" y="4133087"/>
            <a:ext cx="6693408" cy="27432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75320" y="4105656"/>
            <a:ext cx="2926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F5A623"/>
                </a:solidFill>
                <a:latin typeface="Segoe UI"/>
              </a:rPr>
              <a:t>230 mi   YOUR RANGE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70916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50" b="0">
                <a:solidFill>
                  <a:srgbClr val="E8EEF4"/>
                </a:solidFill>
                <a:latin typeface="Segoe UI"/>
              </a:rPr>
              <a:t>F650GS: 4.4 gal · ~50 mpg · ~230 mi claimed. Derate for load, headwind, gravel, low gear → assume ~200 mi.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" y="5166360"/>
            <a:ext cx="10469880" cy="548640"/>
          </a:xfrm>
          <a:prstGeom prst="roundRect">
            <a:avLst>
              <a:gd name="adj" fmla="val 5000"/>
            </a:avLst>
          </a:prstGeom>
          <a:solidFill>
            <a:srgbClr val="22354B"/>
          </a:solidFill>
          <a:ln w="16510">
            <a:solidFill>
              <a:srgbClr val="E256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88720" y="5285232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E2564D"/>
                </a:solidFill>
                <a:latin typeface="Segoe UI"/>
              </a:rPr>
              <a:t>YOU WOULD RUN DRY BEFORE DEADHORSE.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870448"/>
            <a:ext cx="10515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1">
                <a:solidFill>
                  <a:srgbClr val="F5A623"/>
                </a:solidFill>
                <a:latin typeface="Segoe UI"/>
              </a:rPr>
              <a:t>And you can't fix it with a bigger tank — the F650GS tank is UNDER THE SEAT, inside the frame.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1">
                <a:solidFill>
                  <a:srgbClr val="F5A623"/>
                </a:solidFill>
                <a:latin typeface="Segoe UI"/>
              </a:rPr>
              <a:t>No long-range tank exists for this bike.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81360" y="6419088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8C9EB0"/>
                </a:solidFill>
                <a:latin typeface="Segoe UI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641908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8C9EB0"/>
                </a:solidFill>
                <a:latin typeface="Segoe UI"/>
              </a:rPr>
              <a:t>Seattle → Deadhorse  ·  2002 BMW F650GS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54864" cy="384048"/>
          </a:xfrm>
          <a:prstGeom prst="rect">
            <a:avLst/>
          </a:prstGeom>
          <a:solidFill>
            <a:srgbClr val="4CAF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54864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4CAF7D"/>
                </a:solidFill>
                <a:latin typeface="Segoe UI"/>
              </a:rPr>
              <a:t>CONSTRAINT #1 — SOLVED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822960"/>
            <a:ext cx="10698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900" b="1">
                <a:solidFill>
                  <a:srgbClr val="E8EEF4"/>
                </a:solidFill>
                <a:latin typeface="Segoe UI Light"/>
              </a:rPr>
              <a:t>Carry external fuel. It's a $100 problem.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6459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1">
                <a:solidFill>
                  <a:srgbClr val="8C9EB0"/>
                </a:solidFill>
                <a:latin typeface="Segoe UI"/>
              </a:rPr>
              <a:t>CONFIGURATION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16459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1">
                <a:solidFill>
                  <a:srgbClr val="8C9EB0"/>
                </a:solidFill>
                <a:latin typeface="Segoe UI"/>
              </a:rPr>
              <a:t>TOTAL RANGE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16459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1">
                <a:solidFill>
                  <a:srgbClr val="8C9EB0"/>
                </a:solidFill>
                <a:latin typeface="Segoe UI"/>
              </a:rPr>
              <a:t>VERDICT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1993392"/>
            <a:ext cx="10469880" cy="640080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68680" y="1993392"/>
            <a:ext cx="54864" cy="640080"/>
          </a:xfrm>
          <a:prstGeom prst="rect">
            <a:avLst/>
          </a:prstGeom>
          <a:solidFill>
            <a:srgbClr val="E256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167128"/>
            <a:ext cx="4114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E8EEF4"/>
                </a:solidFill>
                <a:latin typeface="Segoe UI"/>
              </a:rPr>
              <a:t>Stock tank only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2167128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E2564D"/>
                </a:solidFill>
                <a:latin typeface="Segoe UI"/>
              </a:rPr>
              <a:t>~200–230 mi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2176272"/>
            <a:ext cx="2743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E2564D"/>
                </a:solidFill>
                <a:latin typeface="Segoe UI"/>
              </a:rPr>
              <a:t>NOT ENOUGH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" y="2770632"/>
            <a:ext cx="10469880" cy="640080"/>
          </a:xfrm>
          <a:prstGeom prst="roundRect">
            <a:avLst>
              <a:gd name="adj" fmla="val 5000"/>
            </a:avLst>
          </a:prstGeom>
          <a:solidFill>
            <a:srgbClr val="2235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8680" y="2770632"/>
            <a:ext cx="54864" cy="640080"/>
          </a:xfrm>
          <a:prstGeom prst="rect">
            <a:avLst/>
          </a:prstGeom>
          <a:solidFill>
            <a:srgbClr val="4CAF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88720" y="2944368"/>
            <a:ext cx="4114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E8EEF4"/>
                </a:solidFill>
                <a:latin typeface="Segoe UI"/>
              </a:rPr>
              <a:t>+ 1 gal Rotopax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0" y="2944368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CAF7D"/>
                </a:solidFill>
                <a:latin typeface="Segoe UI"/>
              </a:rPr>
              <a:t>~280 mi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2953512"/>
            <a:ext cx="2743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4CAF7D"/>
                </a:solidFill>
                <a:latin typeface="Segoe UI"/>
              </a:rPr>
              <a:t>SOLVES IT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8680" y="3547872"/>
            <a:ext cx="10469880" cy="640080"/>
          </a:xfrm>
          <a:prstGeom prst="roundRect">
            <a:avLst>
              <a:gd name="adj" fmla="val 5000"/>
            </a:avLst>
          </a:prstGeom>
          <a:solidFill>
            <a:srgbClr val="2235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68680" y="3547872"/>
            <a:ext cx="54864" cy="640080"/>
          </a:xfrm>
          <a:prstGeom prst="rect">
            <a:avLst/>
          </a:prstGeom>
          <a:solidFill>
            <a:srgbClr val="4CAF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88720" y="3721608"/>
            <a:ext cx="4114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E8EEF4"/>
                </a:solidFill>
                <a:latin typeface="Segoe UI"/>
              </a:rPr>
              <a:t>+ 2 gal Rotopax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0" y="3721608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CAF7D"/>
                </a:solidFill>
                <a:latin typeface="Segoe UI"/>
              </a:rPr>
              <a:t>~330 mi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3730752"/>
            <a:ext cx="2743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4CAF7D"/>
                </a:solidFill>
                <a:latin typeface="Segoe UI"/>
              </a:rPr>
              <a:t>COMFORTABLE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" y="4498848"/>
            <a:ext cx="10469880" cy="914400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 w="19050">
            <a:solidFill>
              <a:srgbClr val="4CAF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88720" y="464515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4CAF7D"/>
                </a:solidFill>
                <a:latin typeface="Segoe UI"/>
              </a:rPr>
              <a:t>RECOMMENDATION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20" y="4937760"/>
            <a:ext cx="9966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50" b="1">
                <a:solidFill>
                  <a:srgbClr val="E8EEF4"/>
                </a:solidFill>
                <a:latin typeface="Segoe UI"/>
              </a:rPr>
              <a:t>1–2 gal Rotopax on a rear rack, carried on the Dalton only. Leave it behind for the pavement miles.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68680" y="5577840"/>
            <a:ext cx="10469880" cy="749808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68680" y="5577840"/>
            <a:ext cx="54864" cy="74980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88720" y="5687568"/>
            <a:ext cx="99669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1">
                <a:solidFill>
                  <a:srgbClr val="F5A623"/>
                </a:solidFill>
                <a:latin typeface="Segoe UI"/>
              </a:rPr>
              <a:t>DISCIPLINE:  Top off at Yukon River (MP 56) and Coldfoot (MP 175) EVERY time, without exception.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1">
                <a:solidFill>
                  <a:srgbClr val="F5A623"/>
                </a:solidFill>
                <a:latin typeface="Segoe UI"/>
              </a:rPr>
              <a:t>There is no “I'll get it at the next one.”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81360" y="6419088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8C9EB0"/>
                </a:solidFill>
                <a:latin typeface="Segoe UI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641908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8C9EB0"/>
                </a:solidFill>
                <a:latin typeface="Segoe UI"/>
              </a:rPr>
              <a:t>Seattle → Deadhorse  ·  2002 BMW F650GS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54864" cy="384048"/>
          </a:xfrm>
          <a:prstGeom prst="rect">
            <a:avLst/>
          </a:prstGeom>
          <a:solidFill>
            <a:srgbClr val="4FC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54864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4FC3F7"/>
                </a:solidFill>
                <a:latin typeface="Segoe UI"/>
              </a:rPr>
              <a:t>THE MACHINE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822960"/>
            <a:ext cx="10698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900" b="1">
                <a:solidFill>
                  <a:srgbClr val="E8EEF4"/>
                </a:solidFill>
                <a:latin typeface="Segoe UI Light"/>
              </a:rPr>
              <a:t>2002 BMW F650GS — base model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1645920"/>
            <a:ext cx="5120640" cy="2148840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181051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4FC3F7"/>
                </a:solidFill>
                <a:latin typeface="Segoe UI"/>
              </a:rPr>
              <a:t>SPECS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176272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8C9EB0"/>
                </a:solidFill>
                <a:latin typeface="Segoe UI"/>
              </a:rPr>
              <a:t>Engine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360" y="2176272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E8EEF4"/>
                </a:solidFill>
                <a:latin typeface="Segoe UI"/>
              </a:rPr>
              <a:t>652cc single (Rotax)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487168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8C9EB0"/>
                </a:solidFill>
                <a:latin typeface="Segoe UI"/>
              </a:rPr>
              <a:t>Wheels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0360" y="248716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E8EEF4"/>
                </a:solidFill>
                <a:latin typeface="Segoe UI"/>
              </a:rPr>
              <a:t>19" front / 17" rear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798064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8C9EB0"/>
                </a:solidFill>
                <a:latin typeface="Segoe UI"/>
              </a:rPr>
              <a:t>Tire sizes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80360" y="2798064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E8EEF4"/>
                </a:solidFill>
                <a:latin typeface="Segoe UI"/>
              </a:rPr>
              <a:t>110/80-19 · 140/80-17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108960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8C9EB0"/>
                </a:solidFill>
                <a:latin typeface="Segoe UI"/>
              </a:rPr>
              <a:t>Fuel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80360" y="3108960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E8EEF4"/>
                </a:solidFill>
                <a:latin typeface="Segoe UI"/>
              </a:rPr>
              <a:t>4.4 gal — UNDER THE SEAT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3419856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8C9EB0"/>
                </a:solidFill>
                <a:latin typeface="Segoe UI"/>
              </a:rPr>
              <a:t>Weight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80360" y="3419856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E8EEF4"/>
                </a:solidFill>
                <a:latin typeface="Segoe UI"/>
              </a:rPr>
              <a:t>~430 lb wet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1645920"/>
            <a:ext cx="5120640" cy="2148840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 w="15240">
            <a:solidFill>
              <a:srgbClr val="4CAF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181051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4CAF7D"/>
                </a:solidFill>
                <a:latin typeface="Segoe UI"/>
              </a:rPr>
              <a:t>VERDICT: A GOOD CHOICE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176272"/>
            <a:ext cx="4617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E8EEF4"/>
                </a:solidFill>
                <a:latin typeface="Segoe UI"/>
              </a:rPr>
              <a:t>Proven round-the-world bike. Comfortable over the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E8EEF4"/>
                </a:solidFill>
                <a:latin typeface="Segoe UI"/>
              </a:rPr>
              <a:t>2,400 pavement miles north. Light enough to pick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E8EEF4"/>
                </a:solidFill>
                <a:latin typeface="Segoe UI"/>
              </a:rPr>
              <a:t>up alone — which you WILL need to do.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E8EEF4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E8EEF4"/>
                </a:solidFill>
                <a:latin typeface="Segoe UI"/>
              </a:rPr>
              <a:t>This is not a compromise pick.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68680" y="4005072"/>
            <a:ext cx="5120640" cy="1051560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68680" y="4005072"/>
            <a:ext cx="54864" cy="105156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70432" y="4133087"/>
            <a:ext cx="4617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F5A623"/>
                </a:solidFill>
                <a:latin typeface="Segoe UI"/>
              </a:rPr>
              <a:t>BASE, NOT DAKAR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70432" y="4425696"/>
            <a:ext cx="4617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00" b="0">
                <a:solidFill>
                  <a:srgbClr val="E8EEF4"/>
                </a:solidFill>
                <a:latin typeface="Segoe UI"/>
              </a:rPr>
              <a:t>19" front + shorter travel = modest disadvantage.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00" b="0">
                <a:solidFill>
                  <a:srgbClr val="E8EEF4"/>
                </a:solidFill>
                <a:latin typeface="Segoe UI"/>
              </a:rPr>
              <a:t>Not a problem — just ride slower.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0" y="4005072"/>
            <a:ext cx="5120640" cy="1051560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17920" y="4005072"/>
            <a:ext cx="54864" cy="1051560"/>
          </a:xfrm>
          <a:prstGeom prst="rect">
            <a:avLst/>
          </a:prstGeom>
          <a:solidFill>
            <a:srgbClr val="4CAF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19672" y="4133087"/>
            <a:ext cx="4617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4CAF7D"/>
                </a:solidFill>
                <a:latin typeface="Segoe UI"/>
              </a:rPr>
              <a:t>MECHANICAL REFRESH — DONE 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19672" y="4425696"/>
            <a:ext cx="4617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00" b="0">
                <a:solidFill>
                  <a:srgbClr val="E8EEF4"/>
                </a:solidFill>
                <a:latin typeface="Segoe UI"/>
              </a:rPr>
              <a:t>Completed before July 2026. Retires the single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00" b="0">
                <a:solidFill>
                  <a:srgbClr val="E8EEF4"/>
                </a:solidFill>
                <a:latin typeface="Segoe UI"/>
              </a:rPr>
              <a:t>biggest risk in the plan.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68680" y="5230368"/>
            <a:ext cx="10469880" cy="960120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 w="16510">
            <a:solidFill>
              <a:srgbClr val="E256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88720" y="5358384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E2564D"/>
                </a:solidFill>
                <a:latin typeface="Segoe UI"/>
              </a:rPr>
              <a:t>⚠  THE BIKE IS 24 YEARS OLD — RELIABILITY IS A SAFETY ITEM, NOT A MAINTENANCE ITEM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8720" y="5669280"/>
            <a:ext cx="9966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E8EEF4"/>
                </a:solidFill>
                <a:latin typeface="Segoe UI"/>
              </a:rPr>
              <a:t>A breakdown on the Dalton is an emergency: no cell service, 240 mi between services, and a tow costs more than the bike.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881360" y="6419088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8C9EB0"/>
                </a:solidFill>
                <a:latin typeface="Segoe UI"/>
              </a:rPr>
              <a:t>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1908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8C9EB0"/>
                </a:solidFill>
                <a:latin typeface="Segoe UI"/>
              </a:rPr>
              <a:t>Seattle → Deadhorse  ·  2002 BMW F650GS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54864" cy="38404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54864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F5A623"/>
                </a:solidFill>
                <a:latin typeface="Segoe UI"/>
              </a:rPr>
              <a:t>KNOWN F650GS FAILURE POINTS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822960"/>
            <a:ext cx="10698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900" b="1">
                <a:solidFill>
                  <a:srgbClr val="E8EEF4"/>
                </a:solidFill>
                <a:latin typeface="Segoe UI Light"/>
              </a:rPr>
              <a:t>Address every one of these before departure.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1627632"/>
            <a:ext cx="10469880" cy="859536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627632"/>
            <a:ext cx="54864" cy="859536"/>
          </a:xfrm>
          <a:prstGeom prst="rect">
            <a:avLst/>
          </a:prstGeom>
          <a:solidFill>
            <a:srgbClr val="E256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1728216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1">
                <a:solidFill>
                  <a:srgbClr val="E2564D"/>
                </a:solidFill>
                <a:latin typeface="Segoe UI"/>
              </a:rPr>
              <a:t>FUEL PUMP + CONTROLLER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011680"/>
            <a:ext cx="6400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8C9EB0"/>
                </a:solidFill>
                <a:latin typeface="Segoe UI"/>
              </a:rPr>
              <a:t>Known failure on this generation. In-tank, under the seat.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8C9EB0"/>
                </a:solidFill>
                <a:latin typeface="Segoe UI"/>
              </a:rPr>
              <a:t>Fails on the Dalton = trip over, in the worst possible place.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18120" y="1874519"/>
            <a:ext cx="3337560" cy="384048"/>
          </a:xfrm>
          <a:prstGeom prst="roundRect">
            <a:avLst>
              <a:gd name="adj" fmla="val 5000"/>
            </a:avLst>
          </a:prstGeom>
          <a:solidFill>
            <a:srgbClr val="2235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79" y="1947672"/>
            <a:ext cx="3063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E2564D"/>
                </a:solidFill>
                <a:latin typeface="Segoe UI"/>
              </a:rPr>
              <a:t>CARRY A SPARE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2560320"/>
            <a:ext cx="10469880" cy="859536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68680" y="2560320"/>
            <a:ext cx="54864" cy="859536"/>
          </a:xfrm>
          <a:prstGeom prst="rect">
            <a:avLst/>
          </a:prstGeom>
          <a:solidFill>
            <a:srgbClr val="E256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88720" y="2660903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1">
                <a:solidFill>
                  <a:srgbClr val="E2564D"/>
                </a:solidFill>
                <a:latin typeface="Segoe UI"/>
              </a:rPr>
              <a:t>FUEL-LEVEL “STRIP” SENSOR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2944368"/>
            <a:ext cx="6400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8C9EB0"/>
                </a:solidFill>
                <a:latin typeface="Segoe UI"/>
              </a:rPr>
              <a:t>Famously fails. Normally a shrug — ride by trip meter.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8C9EB0"/>
                </a:solidFill>
                <a:latin typeface="Segoe UI"/>
              </a:rPr>
              <a:t>But your range is ALREADY short of the 239 mi gap.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18120" y="2807208"/>
            <a:ext cx="3337560" cy="384048"/>
          </a:xfrm>
          <a:prstGeom prst="roundRect">
            <a:avLst>
              <a:gd name="adj" fmla="val 5000"/>
            </a:avLst>
          </a:prstGeom>
          <a:solidFill>
            <a:srgbClr val="2235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55279" y="2880360"/>
            <a:ext cx="3063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E2564D"/>
                </a:solidFill>
                <a:latin typeface="Segoe UI"/>
              </a:rPr>
              <a:t>FIX IT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" y="3493008"/>
            <a:ext cx="10469880" cy="859536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68680" y="3493008"/>
            <a:ext cx="54864" cy="8595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88720" y="359359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1">
                <a:solidFill>
                  <a:srgbClr val="F5A623"/>
                </a:solidFill>
                <a:latin typeface="Segoe UI"/>
              </a:rPr>
              <a:t>WATER PUMP SEAL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877056"/>
            <a:ext cx="6400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8C9EB0"/>
                </a:solidFill>
                <a:latin typeface="Segoe UI"/>
              </a:rPr>
              <a:t>Classic wear item. Check the weep hole for coolant.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18120" y="3739896"/>
            <a:ext cx="3337560" cy="384048"/>
          </a:xfrm>
          <a:prstGeom prst="roundRect">
            <a:avLst>
              <a:gd name="adj" fmla="val 5000"/>
            </a:avLst>
          </a:prstGeom>
          <a:solidFill>
            <a:srgbClr val="2235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55279" y="3813048"/>
            <a:ext cx="3063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F5A623"/>
                </a:solidFill>
                <a:latin typeface="Segoe UI"/>
              </a:rPr>
              <a:t>INSPECT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" y="4425696"/>
            <a:ext cx="10469880" cy="859536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68680" y="4425696"/>
            <a:ext cx="54864" cy="8595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88720" y="4526280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1">
                <a:solidFill>
                  <a:srgbClr val="F5A623"/>
                </a:solidFill>
                <a:latin typeface="Segoe UI"/>
              </a:rPr>
              <a:t>STATOR / REG-RECTIFIER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8720" y="4809744"/>
            <a:ext cx="6400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8C9EB0"/>
                </a:solidFill>
                <a:latin typeface="Segoe UI"/>
              </a:rPr>
              <a:t>Check charging voltage.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818120" y="4672583"/>
            <a:ext cx="3337560" cy="384048"/>
          </a:xfrm>
          <a:prstGeom prst="roundRect">
            <a:avLst>
              <a:gd name="adj" fmla="val 5000"/>
            </a:avLst>
          </a:prstGeom>
          <a:solidFill>
            <a:srgbClr val="2235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955279" y="4745736"/>
            <a:ext cx="3063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F5A623"/>
                </a:solidFill>
                <a:latin typeface="Segoe UI"/>
              </a:rPr>
              <a:t>INSPECT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68680" y="5358384"/>
            <a:ext cx="10469880" cy="859536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68680" y="5358384"/>
            <a:ext cx="54864" cy="8595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88720" y="5458968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1">
                <a:solidFill>
                  <a:srgbClr val="F5A623"/>
                </a:solidFill>
                <a:latin typeface="Segoe UI"/>
              </a:rPr>
              <a:t>VALVE CLEARANCES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88720" y="5742432"/>
            <a:ext cx="6400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8C9EB0"/>
                </a:solidFill>
                <a:latin typeface="Segoe UI"/>
              </a:rPr>
              <a:t>Check and set.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818120" y="5605272"/>
            <a:ext cx="3337560" cy="384048"/>
          </a:xfrm>
          <a:prstGeom prst="roundRect">
            <a:avLst>
              <a:gd name="adj" fmla="val 5000"/>
            </a:avLst>
          </a:prstGeom>
          <a:solidFill>
            <a:srgbClr val="2235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955279" y="5678424"/>
            <a:ext cx="3063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F5A623"/>
                </a:solidFill>
                <a:latin typeface="Segoe UI"/>
              </a:rPr>
              <a:t>INSPECT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60" y="6419088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8C9EB0"/>
                </a:solidFill>
                <a:latin typeface="Segoe UI"/>
              </a:rPr>
              <a:t>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641908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8C9EB0"/>
                </a:solidFill>
                <a:latin typeface="Segoe UI"/>
              </a:rPr>
              <a:t>Seattle → Deadhorse  ·  2002 BMW F650GS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54864" cy="384048"/>
          </a:xfrm>
          <a:prstGeom prst="rect">
            <a:avLst/>
          </a:prstGeom>
          <a:solidFill>
            <a:srgbClr val="4FC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54864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4FC3F7"/>
                </a:solidFill>
                <a:latin typeface="Segoe UI"/>
              </a:rPr>
              <a:t>TIRES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822960"/>
            <a:ext cx="10698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900" b="1">
                <a:solidFill>
                  <a:srgbClr val="E8EEF4"/>
                </a:solidFill>
                <a:latin typeface="Segoe UI Light"/>
              </a:rPr>
              <a:t>Don't optimize for the 8% of the trip that's dirt.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1600200"/>
            <a:ext cx="10469880" cy="731520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1719072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1">
                <a:solidFill>
                  <a:srgbClr val="E8EEF4"/>
                </a:solidFill>
                <a:latin typeface="Segoe UI"/>
              </a:rPr>
              <a:t>Round trip ≈ 6,000 mi. The Dalton is ~600 mi of it. A soft knobby rear can be cooked in ~3,000 mi —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1">
                <a:solidFill>
                  <a:srgbClr val="E8EEF4"/>
                </a:solidFill>
                <a:latin typeface="Segoe UI"/>
              </a:rPr>
              <a:t>you would destroy it just GETTING to Fairbanks.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2487168"/>
            <a:ext cx="3291840" cy="2331720"/>
          </a:xfrm>
          <a:prstGeom prst="roundRect">
            <a:avLst>
              <a:gd name="adj" fmla="val 5000"/>
            </a:avLst>
          </a:prstGeom>
          <a:solidFill>
            <a:srgbClr val="22354B"/>
          </a:solidFill>
          <a:ln w="19050">
            <a:solidFill>
              <a:srgbClr val="4CAF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2633472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4CAF7D"/>
                </a:solidFill>
                <a:latin typeface="Segoe UI"/>
              </a:rPr>
              <a:t>HEIDENAU K60 SCOUT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2962656"/>
            <a:ext cx="29260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>
                <a:solidFill>
                  <a:srgbClr val="E8EEF4"/>
                </a:solidFill>
                <a:latin typeface="Segoe UI"/>
              </a:rPr>
              <a:t>Comes in 140/80-17. Riders report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>
                <a:solidFill>
                  <a:srgbClr val="E8EEF4"/>
                </a:solidFill>
                <a:latin typeface="Segoe UI"/>
              </a:rPr>
              <a:t>10,000+ mi on a set. Adequate on the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>
                <a:solidFill>
                  <a:srgbClr val="E8EEF4"/>
                </a:solidFill>
                <a:latin typeface="Segoe UI"/>
              </a:rPr>
              <a:t>Dalton, excellent everywhere else.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>
                <a:solidFill>
                  <a:srgbClr val="E8EEF4"/>
                </a:solidFill>
                <a:latin typeface="Segoe UI"/>
              </a:rPr>
              <a:t>One set does the whole trip.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>
                <a:solidFill>
                  <a:srgbClr val="E8EEF4"/>
                </a:solidFill>
                <a:latin typeface="Segoe UI"/>
              </a:rPr>
              <a:t/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>
                <a:solidFill>
                  <a:srgbClr val="E8EEF4"/>
                </a:solidFill>
                <a:latin typeface="Segoe UI"/>
              </a:rPr>
              <a:t>Downside: hard to mount.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69848" y="4370832"/>
            <a:ext cx="2889504" cy="329184"/>
          </a:xfrm>
          <a:prstGeom prst="roundRect">
            <a:avLst>
              <a:gd name="adj" fmla="val 5000"/>
            </a:avLst>
          </a:prstGeom>
          <a:solidFill>
            <a:srgbClr val="0F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443484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000" b="1">
                <a:solidFill>
                  <a:srgbClr val="4CAF7D"/>
                </a:solidFill>
                <a:latin typeface="Segoe UI"/>
              </a:rPr>
              <a:t>RECOMMENDED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2487168"/>
            <a:ext cx="3291840" cy="2331720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36007" y="2633472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F5A623"/>
                </a:solidFill>
                <a:latin typeface="Segoe UI"/>
              </a:rPr>
              <a:t>CONTINENTAL TKC80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6007" y="2962656"/>
            <a:ext cx="29260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>
                <a:solidFill>
                  <a:srgbClr val="E8EEF4"/>
                </a:solidFill>
                <a:latin typeface="Segoe UI"/>
              </a:rPr>
              <a:t>Better in mud, but wears fast — and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>
                <a:solidFill>
                  <a:srgbClr val="E8EEF4"/>
                </a:solidFill>
                <a:latin typeface="Segoe UI"/>
              </a:rPr>
              <a:t>Continental is PHASING IT OUT.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>
                <a:solidFill>
                  <a:srgbClr val="E8EEF4"/>
                </a:solidFill>
                <a:latin typeface="Segoe UI"/>
              </a:rPr>
              <a:t>Replaced by the redesigned TKC80²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>
                <a:solidFill>
                  <a:srgbClr val="E8EEF4"/>
                </a:solidFill>
                <a:latin typeface="Segoe UI"/>
              </a:rPr>
              <a:t>(small sizes May '26, large Aug '26).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>
                <a:solidFill>
                  <a:srgbClr val="E8EEF4"/>
                </a:solidFill>
                <a:latin typeface="Segoe UI"/>
              </a:rPr>
              <a:t/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>
                <a:solidFill>
                  <a:srgbClr val="E8EEF4"/>
                </a:solidFill>
                <a:latin typeface="Segoe UI"/>
              </a:rPr>
              <a:t>If you go Conti, go Gen 2.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36007" y="4370832"/>
            <a:ext cx="2889504" cy="329184"/>
          </a:xfrm>
          <a:prstGeom prst="roundRect">
            <a:avLst>
              <a:gd name="adj" fmla="val 5000"/>
            </a:avLst>
          </a:prstGeom>
          <a:solidFill>
            <a:srgbClr val="0F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09159" y="443484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000" b="1">
                <a:solidFill>
                  <a:srgbClr val="F5A623"/>
                </a:solidFill>
                <a:latin typeface="Segoe UI"/>
              </a:rPr>
              <a:t>GEN-2 ONLY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01000" y="2487168"/>
            <a:ext cx="3291840" cy="2331720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2168" y="2633472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8C9EB0"/>
                </a:solidFill>
                <a:latin typeface="Segoe UI"/>
              </a:rPr>
              <a:t>MITAS E-07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02168" y="2962656"/>
            <a:ext cx="29260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>
                <a:solidFill>
                  <a:srgbClr val="E8EEF4"/>
                </a:solidFill>
                <a:latin typeface="Segoe UI"/>
              </a:rPr>
              <a:t>More like 60/40 street.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>
                <a:solidFill>
                  <a:srgbClr val="E8EEF4"/>
                </a:solidFill>
                <a:latin typeface="Segoe UI"/>
              </a:rPr>
              <a:t>Long-wearing.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>
                <a:solidFill>
                  <a:srgbClr val="E8EEF4"/>
                </a:solidFill>
                <a:latin typeface="Segoe UI"/>
              </a:rPr>
              <a:t/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>
                <a:solidFill>
                  <a:srgbClr val="E8EEF4"/>
                </a:solidFill>
                <a:latin typeface="Segoe UI"/>
              </a:rPr>
              <a:t>Fine — but the K60 does the same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>
                <a:solidFill>
                  <a:srgbClr val="E8EEF4"/>
                </a:solidFill>
                <a:latin typeface="Segoe UI"/>
              </a:rPr>
              <a:t>job with more dirt capability.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02168" y="4370832"/>
            <a:ext cx="2889504" cy="329184"/>
          </a:xfrm>
          <a:prstGeom prst="roundRect">
            <a:avLst>
              <a:gd name="adj" fmla="val 5000"/>
            </a:avLst>
          </a:prstGeom>
          <a:solidFill>
            <a:srgbClr val="0F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75320" y="443484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000" b="1">
                <a:solidFill>
                  <a:srgbClr val="8C9EB0"/>
                </a:solidFill>
                <a:latin typeface="Segoe UI"/>
              </a:rPr>
              <a:t>REDUNDANT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68680" y="4983480"/>
            <a:ext cx="10469880" cy="685800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 w="19050">
            <a:solidFill>
              <a:srgbClr val="4CAF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88720" y="5102352"/>
            <a:ext cx="9966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1">
                <a:solidFill>
                  <a:srgbClr val="E8EEF4"/>
                </a:solidFill>
                <a:latin typeface="Segoe UI"/>
              </a:rPr>
              <a:t>RECOMMENDATION:  Heidenau K60 Scout front + rear. One fresh set, whole trip.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1">
                <a:solidFill>
                  <a:srgbClr val="E8EEF4"/>
                </a:solidFill>
                <a:latin typeface="Segoe UI"/>
              </a:rPr>
              <a:t>No mid-trip swap, no shipping tires to Alaska.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68680" y="5779008"/>
            <a:ext cx="10469880" cy="530352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68680" y="5779008"/>
            <a:ext cx="54864" cy="530352"/>
          </a:xfrm>
          <a:prstGeom prst="rect">
            <a:avLst/>
          </a:prstGeom>
          <a:solidFill>
            <a:srgbClr val="E256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88720" y="5888736"/>
            <a:ext cx="9966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E2564D"/>
                </a:solidFill>
                <a:latin typeface="Segoe UI"/>
              </a:rPr>
              <a:t>⚠  VERIFY EARLY: the 140/80-17 rear is an oddball size with few options. If it dries up, this changes.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60" y="6419088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8C9EB0"/>
                </a:solidFill>
                <a:latin typeface="Segoe UI"/>
              </a:rPr>
              <a:t>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641908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8C9EB0"/>
                </a:solidFill>
                <a:latin typeface="Segoe UI"/>
              </a:rPr>
              <a:t>Seattle → Deadhorse  ·  2002 BMW F650GS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54864" cy="384048"/>
          </a:xfrm>
          <a:prstGeom prst="rect">
            <a:avLst/>
          </a:prstGeom>
          <a:solidFill>
            <a:srgbClr val="4FC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54864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4FC3F7"/>
                </a:solidFill>
                <a:latin typeface="Segoe UI"/>
              </a:rPr>
              <a:t>THE DESTINATION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822960"/>
            <a:ext cx="10698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900" b="1">
                <a:solidFill>
                  <a:srgbClr val="E8EEF4"/>
                </a:solidFill>
                <a:latin typeface="Segoe UI Light"/>
              </a:rPr>
              <a:t>Deadhorse is an industrial camp, not a town.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536192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8C9EB0"/>
                </a:solidFill>
                <a:latin typeface="Segoe UI"/>
              </a:rPr>
              <a:t>No beach. No bar. No triumphant sign worth much. Manage expectations — the ride is the reward.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011680"/>
            <a:ext cx="5120640" cy="2011680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176272"/>
            <a:ext cx="4617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4FC3F7"/>
                </a:solidFill>
                <a:latin typeface="Segoe UI"/>
              </a:rPr>
              <a:t>LODGING — book ahead, they sell out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2542032"/>
            <a:ext cx="46177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E8EEF4"/>
                </a:solidFill>
                <a:latin typeface="Segoe UI"/>
              </a:rPr>
              <a:t>•  Aurora Hotel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871215"/>
            <a:ext cx="46177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E8EEF4"/>
                </a:solidFill>
                <a:latin typeface="Segoe UI"/>
              </a:rPr>
              <a:t>•  Prudhoe Bay Hotel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200400"/>
            <a:ext cx="46177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E8EEF4"/>
                </a:solidFill>
                <a:latin typeface="Segoe UI"/>
              </a:rPr>
              <a:t>•  Deadhorse Camp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3584448"/>
            <a:ext cx="4617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8C9EB0"/>
                </a:solidFill>
                <a:latin typeface="Segoe UI"/>
              </a:rPr>
              <a:t>Rustic, camp-style. Meals usually included.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011680"/>
            <a:ext cx="5120640" cy="2011680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2176272"/>
            <a:ext cx="4617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F5A623"/>
                </a:solidFill>
                <a:latin typeface="Segoe UI"/>
              </a:rPr>
              <a:t>YOU CANNOT RIDE TO THE ARCTIC OCEAN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542032"/>
            <a:ext cx="46177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00" b="0">
                <a:solidFill>
                  <a:srgbClr val="E8EEF4"/>
                </a:solidFill>
                <a:latin typeface="Segoe UI"/>
              </a:rPr>
              <a:t>The final stretch crosses secured oilfield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00" b="0">
                <a:solidFill>
                  <a:srgbClr val="E8EEF4"/>
                </a:solidFill>
                <a:latin typeface="Segoe UI"/>
              </a:rPr>
              <a:t>property. You must take an ESCORTED SHUTTLE.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00" b="0">
                <a:solidFill>
                  <a:srgbClr val="E8EEF4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00" b="0">
                <a:solidFill>
                  <a:srgbClr val="E8EEF4"/>
                </a:solidFill>
                <a:latin typeface="Segoe UI"/>
              </a:rPr>
              <a:t>Book in advance (24h min for the security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00" b="0">
                <a:solidFill>
                  <a:srgbClr val="E8EEF4"/>
                </a:solidFill>
                <a:latin typeface="Segoe UI"/>
              </a:rPr>
              <a:t>check). Bring government photo ID.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4206240"/>
            <a:ext cx="10469880" cy="566928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68680" y="4206240"/>
            <a:ext cx="54864" cy="566928"/>
          </a:xfrm>
          <a:prstGeom prst="rect">
            <a:avLst/>
          </a:prstGeom>
          <a:solidFill>
            <a:srgbClr val="E256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88720" y="433425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E8EEF4"/>
                </a:solidFill>
                <a:latin typeface="Segoe UI"/>
              </a:rPr>
              <a:t>Camping in Deadhorse is effectively not a thing. Budget for a room.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98348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F5A623"/>
                </a:solidFill>
                <a:latin typeface="Segoe UI"/>
              </a:rPr>
              <a:t>SEASON &amp; TIMING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68680" y="5321808"/>
            <a:ext cx="2487168" cy="804672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5449824"/>
            <a:ext cx="21945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1">
                <a:solidFill>
                  <a:srgbClr val="8C9EB0"/>
                </a:solidFill>
                <a:latin typeface="Segoe UI"/>
              </a:rPr>
              <a:t>WINDOW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5687568"/>
            <a:ext cx="2240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1">
                <a:solidFill>
                  <a:srgbClr val="E8EEF4"/>
                </a:solidFill>
                <a:latin typeface="Segoe UI"/>
              </a:rPr>
              <a:t>mid-June → early Sept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538728" y="5321808"/>
            <a:ext cx="2487168" cy="804672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721608" y="5449824"/>
            <a:ext cx="21945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1">
                <a:solidFill>
                  <a:srgbClr val="8C9EB0"/>
                </a:solidFill>
                <a:latin typeface="Segoe UI"/>
              </a:rPr>
              <a:t>PEAK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21608" y="5687568"/>
            <a:ext cx="2240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1">
                <a:solidFill>
                  <a:srgbClr val="E8EEF4"/>
                </a:solidFill>
                <a:latin typeface="Segoe UI"/>
              </a:rPr>
              <a:t>late June / July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08776" y="5321808"/>
            <a:ext cx="2487168" cy="804672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91656" y="5449824"/>
            <a:ext cx="21945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1">
                <a:solidFill>
                  <a:srgbClr val="8C9EB0"/>
                </a:solidFill>
                <a:latin typeface="Segoe UI"/>
              </a:rPr>
              <a:t>BUGS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91656" y="5687568"/>
            <a:ext cx="2240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1">
                <a:solidFill>
                  <a:srgbClr val="E8EEF4"/>
                </a:solidFill>
                <a:latin typeface="Segoe UI"/>
              </a:rPr>
              <a:t>brutal in Jun–Jul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878824" y="5321808"/>
            <a:ext cx="2487168" cy="804672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61703" y="5449824"/>
            <a:ext cx="21945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1">
                <a:solidFill>
                  <a:srgbClr val="8C9EB0"/>
                </a:solidFill>
                <a:latin typeface="Segoe UI"/>
              </a:rPr>
              <a:t>TRIP LENGTH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61703" y="5687568"/>
            <a:ext cx="2240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1">
                <a:solidFill>
                  <a:srgbClr val="E8EEF4"/>
                </a:solidFill>
                <a:latin typeface="Segoe UI"/>
              </a:rPr>
              <a:t>3–4 weeks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881360" y="6419088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8C9EB0"/>
                </a:solidFill>
                <a:latin typeface="Segoe UI"/>
              </a:rPr>
              <a:t>10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1908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8C9EB0"/>
                </a:solidFill>
                <a:latin typeface="Segoe UI"/>
              </a:rPr>
              <a:t>Seattle → Deadhorse  ·  2002 BMW F650GS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54864" cy="38404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54864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F5A623"/>
                </a:solidFill>
                <a:latin typeface="Segoe UI"/>
              </a:rPr>
              <a:t>GEAR, SAFETY &amp; BORDER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822960"/>
            <a:ext cx="10698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900" b="1">
                <a:solidFill>
                  <a:srgbClr val="E8EEF4"/>
                </a:solidFill>
                <a:latin typeface="Segoe UI Light"/>
              </a:rPr>
              <a:t>The non-negotiables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1645920"/>
            <a:ext cx="5120640" cy="2240280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645920"/>
            <a:ext cx="54864" cy="2240280"/>
          </a:xfrm>
          <a:prstGeom prst="rect">
            <a:avLst/>
          </a:prstGeom>
          <a:solidFill>
            <a:srgbClr val="E256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1792224"/>
            <a:ext cx="4617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E2564D"/>
                </a:solidFill>
                <a:latin typeface="Segoe UI"/>
              </a:rPr>
              <a:t>SAFETY — NON-NEGOTIABLE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139696"/>
            <a:ext cx="46177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>
                <a:solidFill>
                  <a:srgbClr val="E8EEF4"/>
                </a:solidFill>
                <a:latin typeface="Segoe UI"/>
              </a:rPr>
              <a:t>•  Satellite communicator (inReach / ZOLEO).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>
                <a:solidFill>
                  <a:srgbClr val="E8EEF4"/>
                </a:solidFill>
                <a:latin typeface="Segoe UI"/>
              </a:rPr>
              <a:t>   No cell on the Dalton — your ONLY way to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>
                <a:solidFill>
                  <a:srgbClr val="E8EEF4"/>
                </a:solidFill>
                <a:latin typeface="Segoe UI"/>
              </a:rPr>
              <a:t>   call for help.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2889504"/>
            <a:ext cx="461772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E8EEF4"/>
                </a:solidFill>
                <a:latin typeface="Segoe UI"/>
              </a:rPr>
              <a:t>•  Bear spray — accessible, not in a pannier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3191256"/>
            <a:ext cx="461772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E8EEF4"/>
                </a:solidFill>
                <a:latin typeface="Segoe UI"/>
              </a:rPr>
              <a:t>•  Ability to fix a flat (tubes, irons, pump)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3493008"/>
            <a:ext cx="461772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E8EEF4"/>
                </a:solidFill>
                <a:latin typeface="Segoe UI"/>
              </a:rPr>
              <a:t>•  First aid + a day of food &amp; water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645920"/>
            <a:ext cx="5120640" cy="2240280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17920" y="1645920"/>
            <a:ext cx="54864" cy="2240280"/>
          </a:xfrm>
          <a:prstGeom prst="rect">
            <a:avLst/>
          </a:prstGeom>
          <a:solidFill>
            <a:srgbClr val="4FC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9672" y="1792224"/>
            <a:ext cx="4617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4FC3F7"/>
                </a:solidFill>
                <a:latin typeface="Segoe UI"/>
              </a:rPr>
              <a:t>GEAR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9672" y="2157984"/>
            <a:ext cx="46177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E8EEF4"/>
                </a:solidFill>
                <a:latin typeface="Segoe UI"/>
              </a:rPr>
              <a:t>•  Layers rated for near-freezing + rain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19672" y="2487168"/>
            <a:ext cx="46177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E8EEF4"/>
                </a:solidFill>
                <a:latin typeface="Segoe UI"/>
              </a:rPr>
              <a:t>•  Heated grips / vest — worth 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19672" y="2816352"/>
            <a:ext cx="46177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E8EEF4"/>
                </a:solidFill>
                <a:latin typeface="Segoe UI"/>
              </a:rPr>
              <a:t>•  Real rain gear. You WILL ride in rain.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9672" y="3145536"/>
            <a:ext cx="46177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E8EEF4"/>
                </a:solidFill>
                <a:latin typeface="Segoe UI"/>
              </a:rPr>
              <a:t>•  Head net + DEET (mosquitoes are real)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9672" y="3474720"/>
            <a:ext cx="46177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E8EEF4"/>
                </a:solidFill>
                <a:latin typeface="Segoe UI"/>
              </a:rPr>
              <a:t>•  Camping kit rated below expected lows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68680" y="4096512"/>
            <a:ext cx="10469880" cy="1417320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68680" y="4096512"/>
            <a:ext cx="54864" cy="141732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88720" y="4242816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F5A623"/>
                </a:solidFill>
                <a:latin typeface="Segoe UI"/>
              </a:rPr>
              <a:t>BORDER — YOU CROSS INTO CANADA TWICE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4590288"/>
            <a:ext cx="996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E8EEF4"/>
                </a:solidFill>
                <a:latin typeface="Segoe UI"/>
              </a:rPr>
              <a:t>•  Passport (not just a passport card)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4882896"/>
            <a:ext cx="996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E8EEF4"/>
                </a:solidFill>
                <a:latin typeface="Segoe UI"/>
              </a:rPr>
              <a:t>•  Proof of insurance VALID IN CANADA — US policies are not automatically valid. Confirm with your insurer.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20" y="5175503"/>
            <a:ext cx="996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E8EEF4"/>
                </a:solidFill>
                <a:latin typeface="Segoe UI"/>
              </a:rPr>
              <a:t>•  Vehicle registration  ·  Cash in CAD + USD (remote stops can be card-flaky)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68680" y="5650992"/>
            <a:ext cx="10469880" cy="566928"/>
          </a:xfrm>
          <a:prstGeom prst="roundRect">
            <a:avLst>
              <a:gd name="adj" fmla="val 5000"/>
            </a:avLst>
          </a:prstGeom>
          <a:solidFill>
            <a:srgbClr val="22354B"/>
          </a:solidFill>
          <a:ln w="19050">
            <a:solidFill>
              <a:srgbClr val="E256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88720" y="577900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E2564D"/>
                </a:solidFill>
                <a:latin typeface="Segoe UI"/>
              </a:rPr>
              <a:t>FIREARMS: DO NOT. A handgun in Canada is a serious offense and ends the trip at the border. Bear spray is the answer.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81360" y="6419088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8C9EB0"/>
                </a:solidFill>
                <a:latin typeface="Segoe UI"/>
              </a:rPr>
              <a:t>11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641908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8C9EB0"/>
                </a:solidFill>
                <a:latin typeface="Segoe UI"/>
              </a:rPr>
              <a:t>Seattle → Deadhorse  ·  2002 BMW F650GS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54864" cy="38404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54864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F5A623"/>
                </a:solidFill>
                <a:latin typeface="Segoe UI"/>
              </a:rPr>
              <a:t>SEASON — LOCKED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822960"/>
            <a:ext cx="10698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900" b="1">
                <a:solidFill>
                  <a:srgbClr val="E8EEF4"/>
                </a:solidFill>
                <a:latin typeface="Segoe UI Light"/>
              </a:rPr>
              <a:t>Depart Saturday, June 26, 2027.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57276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E8EEF4"/>
                </a:solidFill>
                <a:latin typeface="Segoe UI"/>
              </a:rPr>
              <a:t>Chosen so the Dalton run lands July 8–12 — dead center of the peak window.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011680"/>
            <a:ext cx="2487168" cy="777240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130552"/>
            <a:ext cx="21945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1">
                <a:solidFill>
                  <a:srgbClr val="8C9EB0"/>
                </a:solidFill>
                <a:latin typeface="Segoe UI"/>
              </a:rPr>
              <a:t>DEPART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359152"/>
            <a:ext cx="2240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E8EEF4"/>
                </a:solidFill>
                <a:latin typeface="Segoe UI"/>
              </a:rPr>
              <a:t>Sat Jun 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38728" y="2011680"/>
            <a:ext cx="2487168" cy="777240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21608" y="2130552"/>
            <a:ext cx="21945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1">
                <a:solidFill>
                  <a:srgbClr val="8C9EB0"/>
                </a:solidFill>
                <a:latin typeface="Segoe UI"/>
              </a:rPr>
              <a:t>DALTON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21608" y="2359152"/>
            <a:ext cx="2240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F5A623"/>
                </a:solidFill>
                <a:latin typeface="Segoe UI"/>
              </a:rPr>
              <a:t>Jul 8 – 12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08776" y="2011680"/>
            <a:ext cx="2487168" cy="777240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91656" y="2130552"/>
            <a:ext cx="21945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1">
                <a:solidFill>
                  <a:srgbClr val="8C9EB0"/>
                </a:solidFill>
                <a:latin typeface="Segoe UI"/>
              </a:rPr>
              <a:t>HOME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91656" y="2359152"/>
            <a:ext cx="2240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E8EEF4"/>
                </a:solidFill>
                <a:latin typeface="Segoe UI"/>
              </a:rPr>
              <a:t>Thu Jul 22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878824" y="2011680"/>
            <a:ext cx="2487168" cy="777240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61703" y="2130552"/>
            <a:ext cx="21945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1">
                <a:solidFill>
                  <a:srgbClr val="8C9EB0"/>
                </a:solidFill>
                <a:latin typeface="Segoe UI"/>
              </a:rPr>
              <a:t>DURATION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61703" y="2359152"/>
            <a:ext cx="2240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4FC3F7"/>
                </a:solidFill>
                <a:latin typeface="Segoe UI"/>
              </a:rPr>
              <a:t>27 days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8680" y="2971800"/>
            <a:ext cx="10469880" cy="1188720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 w="16510">
            <a:solidFill>
              <a:srgbClr val="4CAF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88720" y="31272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4CAF7D"/>
                </a:solidFill>
                <a:latin typeface="Segoe UI"/>
              </a:rPr>
              <a:t>WHAT THIS BUYS YOU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419856"/>
            <a:ext cx="996696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E8EEF4"/>
                </a:solidFill>
                <a:latin typeface="Segoe UI"/>
              </a:rPr>
              <a:t>Warmest temps · Atigun Pass clear of snow · near-24-hour daylight — and the best odds of a DRY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E8EEF4"/>
                </a:solidFill>
                <a:latin typeface="Segoe UI"/>
              </a:rPr>
              <a:t>Dalton. Dry, the calcium chloride packs hard and grips. Wet, it's the thing most likely to put you down.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" y="4297680"/>
            <a:ext cx="5120640" cy="960120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" y="4297680"/>
            <a:ext cx="54864" cy="96012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70432" y="4425696"/>
            <a:ext cx="4617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F5A623"/>
                </a:solidFill>
                <a:latin typeface="Segoe UI"/>
              </a:rPr>
              <a:t>THE TRADEOFF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0432" y="4700016"/>
            <a:ext cx="4617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E8EEF4"/>
                </a:solidFill>
                <a:latin typeface="Segoe UI"/>
              </a:rPr>
              <a:t>Peak mosquito season. A nuisance, not a hazard.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E8EEF4"/>
                </a:solidFill>
                <a:latin typeface="Segoe UI"/>
              </a:rPr>
              <a:t>The head net is not optional.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7920" y="4297680"/>
            <a:ext cx="5120640" cy="960120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17920" y="4297680"/>
            <a:ext cx="54864" cy="960120"/>
          </a:xfrm>
          <a:prstGeom prst="rect">
            <a:avLst/>
          </a:prstGeom>
          <a:solidFill>
            <a:srgbClr val="E256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19672" y="4425696"/>
            <a:ext cx="4617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E2564D"/>
                </a:solidFill>
                <a:latin typeface="Segoe UI"/>
              </a:rPr>
              <a:t>IF IT SLIPS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19672" y="4700016"/>
            <a:ext cx="4617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E8EEF4"/>
                </a:solidFill>
                <a:latin typeface="Segoe UI"/>
              </a:rPr>
              <a:t>Slip it in WHOLE WEEKS. Do not let it drift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E8EEF4"/>
                </a:solidFill>
                <a:latin typeface="Segoe UI"/>
              </a:rPr>
              <a:t>toward September — the Dalton turns.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68680" y="5440680"/>
            <a:ext cx="10469880" cy="868680"/>
          </a:xfrm>
          <a:prstGeom prst="roundRect">
            <a:avLst>
              <a:gd name="adj" fmla="val 5000"/>
            </a:avLst>
          </a:prstGeom>
          <a:solidFill>
            <a:srgbClr val="2235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88720" y="555955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4FC3F7"/>
                </a:solidFill>
                <a:latin typeface="Segoe UI"/>
              </a:rPr>
              <a:t>SHAPE OF THE TRIP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88720" y="5852160"/>
            <a:ext cx="9966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1">
                <a:solidFill>
                  <a:srgbClr val="E8EEF4"/>
                </a:solidFill>
                <a:latin typeface="Segoe UI"/>
              </a:rPr>
              <a:t>10 days north (Cassiar)   →   5 days on the Dalton   →   9 days home (Alcan).   No day over 340 mi.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881360" y="6419088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8C9EB0"/>
                </a:solidFill>
                <a:latin typeface="Segoe UI"/>
              </a:rPr>
              <a:t>12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641908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8C9EB0"/>
                </a:solidFill>
                <a:latin typeface="Segoe UI"/>
              </a:rPr>
              <a:t>Seattle → Deadhorse  ·  2002 BMW F650GS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54864" cy="384048"/>
          </a:xfrm>
          <a:prstGeom prst="rect">
            <a:avLst/>
          </a:prstGeom>
          <a:solidFill>
            <a:srgbClr val="E256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54864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E2564D"/>
                </a:solidFill>
                <a:latin typeface="Segoe UI"/>
              </a:rPr>
              <a:t>SIDE TRIP — DENALI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822960"/>
            <a:ext cx="10698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900" b="1">
                <a:solidFill>
                  <a:srgbClr val="E8EEF4"/>
                </a:solidFill>
                <a:latin typeface="Segoe UI Light"/>
              </a:rPr>
              <a:t>You cannot ride into Denali.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1627632"/>
            <a:ext cx="10469880" cy="960120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 w="17780">
            <a:solidFill>
              <a:srgbClr val="E256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1773936"/>
            <a:ext cx="99669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1">
                <a:solidFill>
                  <a:srgbClr val="E8EEF4"/>
                </a:solidFill>
                <a:latin typeface="Segoe UI"/>
              </a:rPr>
              <a:t>Private vehicles are barred past Savage River (Mile 15) — that's the standing rule, not a closure.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1">
                <a:solidFill>
                  <a:srgbClr val="E8EEF4"/>
                </a:solidFill>
                <a:latin typeface="Segoe UI"/>
              </a:rPr>
              <a:t>And the Pretty Rocks landslide has severed the road at Mile 43 since 2021. The Denali day is a BUS TOUR.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2724912"/>
            <a:ext cx="5120640" cy="1234440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 w="16510">
            <a:solidFill>
              <a:srgbClr val="4CAF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70432" y="2871216"/>
            <a:ext cx="4617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4CAF7D"/>
                </a:solidFill>
                <a:latin typeface="Segoe UI"/>
              </a:rPr>
              <a:t>BUT 2027 IS THE YEAR IT COMES BACK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0432" y="3163824"/>
            <a:ext cx="4617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>
                <a:solidFill>
                  <a:srgbClr val="E8EEF4"/>
                </a:solidFill>
                <a:latin typeface="Segoe UI"/>
              </a:rPr>
              <a:t>Polychrome bridge completes mid-2026. Full bus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>
                <a:solidFill>
                  <a:srgbClr val="E8EEF4"/>
                </a:solidFill>
                <a:latin typeface="Segoe UI"/>
              </a:rPr>
              <a:t>service to Kantishna expected 2027 — first time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>
                <a:solidFill>
                  <a:srgbClr val="E8EEF4"/>
                </a:solidFill>
                <a:latin typeface="Segoe UI"/>
              </a:rPr>
              <a:t>in six years. Your season is the one.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2724912"/>
            <a:ext cx="5120640" cy="1234440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 w="1651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19672" y="2871216"/>
            <a:ext cx="4617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F5A623"/>
                </a:solidFill>
                <a:latin typeface="Segoe UI"/>
              </a:rPr>
              <a:t>⚠  DON'T BANK ON 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19672" y="3163824"/>
            <a:ext cx="4617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>
                <a:solidFill>
                  <a:srgbClr val="E8EEF4"/>
                </a:solidFill>
                <a:latin typeface="Segoe UI"/>
              </a:rPr>
              <a:t>That date has slipped FOUR times already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>
                <a:solidFill>
                  <a:srgbClr val="E8EEF4"/>
                </a:solidFill>
                <a:latin typeface="Segoe UI"/>
              </a:rPr>
              <a:t>(2024 → 25 → 26 → partial-26 → full-27).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>
                <a:solidFill>
                  <a:srgbClr val="E8EEF4"/>
                </a:solidFill>
                <a:latin typeface="Segoe UI"/>
              </a:rPr>
              <a:t>Check nps.gov/dena in spring 2027.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133087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4FC3F7"/>
                </a:solidFill>
                <a:latin typeface="Segoe UI"/>
              </a:rPr>
              <a:t>THE ROUTE: DON'T BACKTRACK — TAKE THE DENALI HIGHWAY (AK-8)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462272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E8EEF4"/>
                </a:solidFill>
                <a:latin typeface="Segoe UI"/>
              </a:rPr>
              <a:t>Drop south to the park, then run Cantwell → Paxson and rejoin the Alcan at Delta Junction.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4828032"/>
            <a:ext cx="2487168" cy="1005840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68680" y="4828032"/>
            <a:ext cx="45720" cy="1005840"/>
          </a:xfrm>
          <a:prstGeom prst="rect">
            <a:avLst/>
          </a:prstGeom>
          <a:solidFill>
            <a:srgbClr val="4FC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9848" y="4937760"/>
            <a:ext cx="2194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FC3F7"/>
                </a:solidFill>
                <a:latin typeface="Segoe UI"/>
              </a:rPr>
              <a:t>135 mi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" y="5248656"/>
            <a:ext cx="224028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8C9EB0"/>
                </a:solidFill>
                <a:latin typeface="Segoe UI"/>
              </a:rPr>
              <a:t>Cantwell → Paxson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8C9EB0"/>
                </a:solidFill>
                <a:latin typeface="Segoe UI"/>
              </a:rPr>
              <a:t>114 of it GRAVEL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538728" y="4828032"/>
            <a:ext cx="2487168" cy="1005840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538728" y="4828032"/>
            <a:ext cx="45720" cy="1005840"/>
          </a:xfrm>
          <a:prstGeom prst="rect">
            <a:avLst/>
          </a:prstGeom>
          <a:solidFill>
            <a:srgbClr val="4FC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739896" y="4937760"/>
            <a:ext cx="2194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FC3F7"/>
                </a:solidFill>
                <a:latin typeface="Segoe UI"/>
              </a:rPr>
              <a:t>4,086 ft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39896" y="5248656"/>
            <a:ext cx="224028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8C9EB0"/>
                </a:solidFill>
                <a:latin typeface="Segoe UI"/>
              </a:rPr>
              <a:t>Maclaren Summit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8C9EB0"/>
                </a:solidFill>
                <a:latin typeface="Segoe UI"/>
              </a:rPr>
              <a:t>Amphitheater Mtns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08776" y="4828032"/>
            <a:ext cx="2487168" cy="1005840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08776" y="4828032"/>
            <a:ext cx="45720" cy="100584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9944" y="4937760"/>
            <a:ext cx="2194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F5A623"/>
                </a:solidFill>
                <a:latin typeface="Segoe UI"/>
              </a:rPr>
              <a:t>5–8 hrs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9944" y="5248656"/>
            <a:ext cx="224028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8C9EB0"/>
                </a:solidFill>
                <a:latin typeface="Segoe UI"/>
              </a:rPr>
              <a:t>Not a transit stage.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8C9EB0"/>
                </a:solidFill>
                <a:latin typeface="Segoe UI"/>
              </a:rPr>
              <a:t>This IS the point.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878824" y="4828032"/>
            <a:ext cx="2487168" cy="1005840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878824" y="4828032"/>
            <a:ext cx="45720" cy="1005840"/>
          </a:xfrm>
          <a:prstGeom prst="rect">
            <a:avLst/>
          </a:prstGeom>
          <a:solidFill>
            <a:srgbClr val="E256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79992" y="4937760"/>
            <a:ext cx="2194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E2564D"/>
                </a:solidFill>
                <a:latin typeface="Segoe UI"/>
              </a:rPr>
              <a:t>NO FUEL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79992" y="5248656"/>
            <a:ext cx="224028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8C9EB0"/>
                </a:solidFill>
                <a:latin typeface="Segoe UI"/>
              </a:rPr>
              <a:t>No cell either.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8C9EB0"/>
                </a:solidFill>
                <a:latin typeface="Segoe UI"/>
              </a:rPr>
              <a:t>Top off at Cantwell.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68680" y="5907024"/>
            <a:ext cx="10469880" cy="438912"/>
          </a:xfrm>
          <a:prstGeom prst="roundRect">
            <a:avLst>
              <a:gd name="adj" fmla="val 5000"/>
            </a:avLst>
          </a:prstGeom>
          <a:solidFill>
            <a:srgbClr val="2235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88720" y="5998464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4CAF7D"/>
                </a:solidFill>
                <a:latin typeface="Segoe UI"/>
              </a:rPr>
              <a:t>The second-best road on the trip after the Dalton — and the one you'll actually enjoy riding.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81360" y="6419088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8C9EB0"/>
                </a:solidFill>
                <a:latin typeface="Segoe UI"/>
              </a:rPr>
              <a:t>13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641908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8C9EB0"/>
                </a:solidFill>
                <a:latin typeface="Segoe UI"/>
              </a:rPr>
              <a:t>Seattle → Deadhorse  ·  2002 BMW F650GS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54864" cy="384048"/>
          </a:xfrm>
          <a:prstGeom prst="rect">
            <a:avLst/>
          </a:prstGeom>
          <a:solidFill>
            <a:srgbClr val="4FC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54864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4FC3F7"/>
                </a:solidFill>
                <a:latin typeface="Segoe UI"/>
              </a:rPr>
              <a:t>SIDE TRIP — TOP OF THE WORLD HIGHWAY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822960"/>
            <a:ext cx="10698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900" b="1">
                <a:solidFill>
                  <a:srgbClr val="E8EEF4"/>
                </a:solidFill>
                <a:latin typeface="Segoe UI Light"/>
              </a:rPr>
              <a:t>The return that doesn't repeat itself.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1627632"/>
            <a:ext cx="10469880" cy="914400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 w="16510">
            <a:solidFill>
              <a:srgbClr val="4FC3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1773936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1">
                <a:solidFill>
                  <a:srgbClr val="E8EEF4"/>
                </a:solidFill>
                <a:latin typeface="Segoe UI"/>
              </a:rPr>
              <a:t>The old return ran Tok → Destruction Bay → Whitehorse — which RIDES KLUANE LAKE A SECOND TIME.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1">
                <a:solidFill>
                  <a:srgbClr val="E8EEF4"/>
                </a:solidFill>
                <a:latin typeface="Segoe UI"/>
              </a:rPr>
              <a:t>Top of the World reroutes you Tok → Chicken → the roof of the continent → Dawson City. New country, +1 day.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69748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F5A623"/>
                </a:solidFill>
                <a:latin typeface="Segoe UI"/>
              </a:rPr>
              <a:t>~197 MI TOK → DAWSON CITY · MOSTLY GRAVEL · TREELESS RIDGELINE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06324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E2564D"/>
                </a:solidFill>
                <a:latin typeface="Segoe UI"/>
              </a:rPr>
              <a:t>THREE HARD CONSTRAINTS — PLAN THE DAY AROUND THEM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3401568"/>
            <a:ext cx="3291840" cy="1051560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3401568"/>
            <a:ext cx="45720" cy="1051560"/>
          </a:xfrm>
          <a:prstGeom prst="rect">
            <a:avLst/>
          </a:prstGeom>
          <a:solidFill>
            <a:srgbClr val="E256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3520440"/>
            <a:ext cx="2971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E2564D"/>
                </a:solidFill>
                <a:latin typeface="Segoe UI"/>
              </a:rPr>
              <a:t>BORDER HOURS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3803904"/>
            <a:ext cx="2971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8C9EB0"/>
                </a:solidFill>
                <a:latin typeface="Segoe UI"/>
              </a:rPr>
              <a:t>Poker Creek: 8am–6pm AK time.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8C9EB0"/>
                </a:solidFill>
                <a:latin typeface="Segoe UI"/>
              </a:rPr>
              <a:t>Miss it, you don't cross. Leave Tok EARLY.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34840" y="3401568"/>
            <a:ext cx="3291840" cy="1051560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34840" y="3401568"/>
            <a:ext cx="45720" cy="105156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7720" y="3520440"/>
            <a:ext cx="2971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F5A623"/>
                </a:solidFill>
                <a:latin typeface="Segoe UI"/>
              </a:rPr>
              <a:t>THE FERRY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7720" y="3803904"/>
            <a:ext cx="2971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8C9EB0"/>
                </a:solidFill>
                <a:latin typeface="Segoe UI"/>
              </a:rPr>
              <a:t>Free Yukon River ferry into Dawson.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8C9EB0"/>
                </a:solidFill>
                <a:latin typeface="Segoe UI"/>
              </a:rPr>
              <a:t>Must be running — no ferry, no Dawson.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01000" y="3401568"/>
            <a:ext cx="3291840" cy="1051560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01000" y="3401568"/>
            <a:ext cx="45720" cy="1051560"/>
          </a:xfrm>
          <a:prstGeom prst="rect">
            <a:avLst/>
          </a:prstGeom>
          <a:solidFill>
            <a:srgbClr val="4FC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83879" y="3520440"/>
            <a:ext cx="2971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4FC3F7"/>
                </a:solidFill>
                <a:latin typeface="Segoe UI"/>
              </a:rPr>
              <a:t>FUEL AT CHICKEN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83879" y="3803904"/>
            <a:ext cx="2971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8C9EB0"/>
                </a:solidFill>
                <a:latin typeface="Segoe UI"/>
              </a:rPr>
              <a:t>~107 mi Chicken → Dawson, nothing between.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8C9EB0"/>
                </a:solidFill>
                <a:latin typeface="Segoe UI"/>
              </a:rPr>
              <a:t>Rotopax earns its keep a THIRD time.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" y="4617720"/>
            <a:ext cx="5120640" cy="960120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" y="4617720"/>
            <a:ext cx="54864" cy="960120"/>
          </a:xfrm>
          <a:prstGeom prst="rect">
            <a:avLst/>
          </a:prstGeom>
          <a:solidFill>
            <a:srgbClr val="4CAF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70432" y="4736592"/>
            <a:ext cx="4617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4CAF7D"/>
                </a:solidFill>
                <a:latin typeface="Segoe UI"/>
              </a:rPr>
              <a:t>DAWSON CITY — WORTH A REST DAY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0432" y="5010912"/>
            <a:ext cx="4617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>
                <a:solidFill>
                  <a:srgbClr val="E8EEF4"/>
                </a:solidFill>
                <a:latin typeface="Segoe UI"/>
              </a:rPr>
              <a:t>Preserved Klondike gold-rush town. The plan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>
                <a:solidFill>
                  <a:srgbClr val="E8EEF4"/>
                </a:solidFill>
                <a:latin typeface="Segoe UI"/>
              </a:rPr>
              <a:t>gives it a rest day (breaks up two hard days).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7920" y="4617720"/>
            <a:ext cx="5120640" cy="960120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17920" y="4617720"/>
            <a:ext cx="54864" cy="96012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19672" y="4736592"/>
            <a:ext cx="4617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F5A623"/>
                </a:solidFill>
                <a:latin typeface="Segoe UI"/>
              </a:rPr>
              <a:t>WANT TO SAVE THE DAY?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19672" y="5010912"/>
            <a:ext cx="4617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E8EEF4"/>
                </a:solidFill>
                <a:latin typeface="Segoe UI"/>
              </a:rPr>
              <a:t>Skip the Dawson rest day and Top of the World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E8EEF4"/>
                </a:solidFill>
                <a:latin typeface="Segoe UI"/>
              </a:rPr>
              <a:t>is nearly day-neutral. The rest is comfort, not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E8EEF4"/>
                </a:solidFill>
                <a:latin typeface="Segoe UI"/>
              </a:rPr>
              <a:t>necessity.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68680" y="5742432"/>
            <a:ext cx="10469880" cy="457200"/>
          </a:xfrm>
          <a:prstGeom prst="roundRect">
            <a:avLst>
              <a:gd name="adj" fmla="val 5000"/>
            </a:avLst>
          </a:prstGeom>
          <a:solidFill>
            <a:srgbClr val="22354B"/>
          </a:solidFill>
          <a:ln w="15240">
            <a:solidFill>
              <a:srgbClr val="4FC3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88720" y="5843016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4FC3F7"/>
                </a:solidFill>
                <a:latin typeface="Segoe UI"/>
              </a:rPr>
              <a:t>Northernmost land border in North America. Rejoins the route via the Klondike Hwy at Whitehorse.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881360" y="6419088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8C9EB0"/>
                </a:solidFill>
                <a:latin typeface="Segoe UI"/>
              </a:rPr>
              <a:t>14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1908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8C9EB0"/>
                </a:solidFill>
                <a:latin typeface="Segoe UI"/>
              </a:rPr>
              <a:t>Seattle → Deadhorse  ·  2002 BMW F650GS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54864" cy="384048"/>
          </a:xfrm>
          <a:prstGeom prst="rect">
            <a:avLst/>
          </a:prstGeom>
          <a:solidFill>
            <a:srgbClr val="4FC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54864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4FC3F7"/>
                </a:solidFill>
                <a:latin typeface="Segoe UI"/>
              </a:rPr>
              <a:t>DAY BY DAY  ·  ★ = OFF DAY (7 TOTAL — LOAD-BEARING, NOT LUXURY)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822960"/>
            <a:ext cx="10698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900" b="1">
                <a:solidFill>
                  <a:srgbClr val="E8EEF4"/>
                </a:solidFill>
                <a:latin typeface="Segoe UI Light"/>
              </a:rPr>
              <a:t>31 days · 6,208 miles · 259 mi average riding 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8407" y="1581912"/>
            <a:ext cx="38404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1">
                <a:solidFill>
                  <a:srgbClr val="8C9EB0"/>
                </a:solidFill>
                <a:latin typeface="Segoe U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19" y="1581912"/>
            <a:ext cx="65836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8C9EB0"/>
                </a:solidFill>
                <a:latin typeface="Segoe UI"/>
              </a:rPr>
              <a:t>Jun 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30552" y="1572768"/>
            <a:ext cx="30632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E8EEF4"/>
                </a:solidFill>
                <a:latin typeface="Segoe UI"/>
              </a:rPr>
              <a:t>Seattle → Hope, BC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2080" y="1572768"/>
            <a:ext cx="62179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1">
                <a:solidFill>
                  <a:srgbClr val="E8EEF4"/>
                </a:solidFill>
                <a:latin typeface="Segoe UI"/>
              </a:rPr>
              <a:t>185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7" y="1884578"/>
            <a:ext cx="38404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1">
                <a:solidFill>
                  <a:srgbClr val="8C9EB0"/>
                </a:solidFill>
                <a:latin typeface="Segoe U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19" y="1884578"/>
            <a:ext cx="65836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8C9EB0"/>
                </a:solidFill>
                <a:latin typeface="Segoe UI"/>
              </a:rPr>
              <a:t>Jun 27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30552" y="1875434"/>
            <a:ext cx="30632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E8EEF4"/>
                </a:solidFill>
                <a:latin typeface="Segoe UI"/>
              </a:rPr>
              <a:t>Hope → Quesnel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80" y="1875434"/>
            <a:ext cx="62179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1">
                <a:solidFill>
                  <a:srgbClr val="E8EEF4"/>
                </a:solidFill>
                <a:latin typeface="Segoe UI"/>
              </a:rPr>
              <a:t>330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8407" y="2187244"/>
            <a:ext cx="38404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1">
                <a:solidFill>
                  <a:srgbClr val="8C9EB0"/>
                </a:solidFill>
                <a:latin typeface="Segoe U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19" y="2187244"/>
            <a:ext cx="65836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8C9EB0"/>
                </a:solidFill>
                <a:latin typeface="Segoe UI"/>
              </a:rPr>
              <a:t>Jun 28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30552" y="2178100"/>
            <a:ext cx="30632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E8EEF4"/>
                </a:solidFill>
                <a:latin typeface="Segoe UI"/>
              </a:rPr>
              <a:t>Quesnel → Smithers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2178100"/>
            <a:ext cx="62179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1">
                <a:solidFill>
                  <a:srgbClr val="E8EEF4"/>
                </a:solidFill>
                <a:latin typeface="Segoe UI"/>
              </a:rPr>
              <a:t>300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8407" y="2489911"/>
            <a:ext cx="38404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1">
                <a:solidFill>
                  <a:srgbClr val="8C9EB0"/>
                </a:solidFill>
                <a:latin typeface="Segoe U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19" y="2489911"/>
            <a:ext cx="65836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8C9EB0"/>
                </a:solidFill>
                <a:latin typeface="Segoe UI"/>
              </a:rPr>
              <a:t>Jun 29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30552" y="2480767"/>
            <a:ext cx="30632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E8EEF4"/>
                </a:solidFill>
                <a:latin typeface="Segoe UI"/>
              </a:rPr>
              <a:t>Smithers → Stewart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2480767"/>
            <a:ext cx="62179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1">
                <a:solidFill>
                  <a:srgbClr val="E8EEF4"/>
                </a:solidFill>
                <a:latin typeface="Segoe UI"/>
              </a:rPr>
              <a:t>250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" y="2765145"/>
            <a:ext cx="5074920" cy="274320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8407" y="2792577"/>
            <a:ext cx="38404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1">
                <a:solidFill>
                  <a:srgbClr val="8C9EB0"/>
                </a:solidFill>
                <a:latin typeface="Segoe U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17319" y="2792577"/>
            <a:ext cx="65836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8C9EB0"/>
                </a:solidFill>
                <a:latin typeface="Segoe UI"/>
              </a:rPr>
              <a:t>Jun 30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30552" y="2783433"/>
            <a:ext cx="30632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1">
                <a:solidFill>
                  <a:srgbClr val="4FC3F7"/>
                </a:solidFill>
                <a:latin typeface="Segoe UI"/>
              </a:rPr>
              <a:t>★ STEWART / HYDER — bears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0" y="2783433"/>
            <a:ext cx="62179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1">
                <a:solidFill>
                  <a:srgbClr val="4FC3F7"/>
                </a:solidFill>
                <a:latin typeface="Segoe UI"/>
              </a:rP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8407" y="3095244"/>
            <a:ext cx="38404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1">
                <a:solidFill>
                  <a:srgbClr val="8C9EB0"/>
                </a:solidFill>
                <a:latin typeface="Segoe UI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17319" y="3095244"/>
            <a:ext cx="65836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8C9EB0"/>
                </a:solidFill>
                <a:latin typeface="Segoe UI"/>
              </a:rPr>
              <a:t>Jul 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30552" y="3086100"/>
            <a:ext cx="30632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E8EEF4"/>
                </a:solidFill>
                <a:latin typeface="Segoe UI"/>
              </a:rPr>
              <a:t>Stewart → Dease Lake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12080" y="3086100"/>
            <a:ext cx="62179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1">
                <a:solidFill>
                  <a:srgbClr val="E8EEF4"/>
                </a:solidFill>
                <a:latin typeface="Segoe UI"/>
              </a:rPr>
              <a:t>270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8407" y="3397910"/>
            <a:ext cx="38404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1">
                <a:solidFill>
                  <a:srgbClr val="8C9EB0"/>
                </a:solidFill>
                <a:latin typeface="Segoe UI"/>
              </a:rPr>
              <a:t>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17319" y="3397910"/>
            <a:ext cx="65836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8C9EB0"/>
                </a:solidFill>
                <a:latin typeface="Segoe UI"/>
              </a:rPr>
              <a:t>Jul 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30552" y="3388766"/>
            <a:ext cx="30632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E8EEF4"/>
                </a:solidFill>
                <a:latin typeface="Segoe UI"/>
              </a:rPr>
              <a:t>Dease Lake → Watson Lake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12080" y="3388766"/>
            <a:ext cx="62179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1">
                <a:solidFill>
                  <a:srgbClr val="E8EEF4"/>
                </a:solidFill>
                <a:latin typeface="Segoe UI"/>
              </a:rPr>
              <a:t>250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7" y="3700576"/>
            <a:ext cx="38404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1">
                <a:solidFill>
                  <a:srgbClr val="8C9EB0"/>
                </a:solidFill>
                <a:latin typeface="Segoe UI"/>
              </a:rPr>
              <a:t>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417319" y="3700576"/>
            <a:ext cx="65836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8C9EB0"/>
                </a:solidFill>
                <a:latin typeface="Segoe UI"/>
              </a:rPr>
              <a:t>Jul 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130552" y="3691432"/>
            <a:ext cx="30632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E8EEF4"/>
                </a:solidFill>
                <a:latin typeface="Segoe UI"/>
              </a:rPr>
              <a:t>Watson Lake → Whitehorse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12080" y="3691432"/>
            <a:ext cx="62179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1">
                <a:solidFill>
                  <a:srgbClr val="E8EEF4"/>
                </a:solidFill>
                <a:latin typeface="Segoe UI"/>
              </a:rPr>
              <a:t>275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68680" y="3975811"/>
            <a:ext cx="5074920" cy="274320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78407" y="4003243"/>
            <a:ext cx="38404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1">
                <a:solidFill>
                  <a:srgbClr val="8C9EB0"/>
                </a:solidFill>
                <a:latin typeface="Segoe UI"/>
              </a:rPr>
              <a:t>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417319" y="4003243"/>
            <a:ext cx="65836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8C9EB0"/>
                </a:solidFill>
                <a:latin typeface="Segoe UI"/>
              </a:rPr>
              <a:t>Jul 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130552" y="3994099"/>
            <a:ext cx="30632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1">
                <a:solidFill>
                  <a:srgbClr val="4FC3F7"/>
                </a:solidFill>
                <a:latin typeface="Segoe UI"/>
              </a:rPr>
              <a:t>★ WHITEHORSE — servicing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212080" y="3994099"/>
            <a:ext cx="62179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1">
                <a:solidFill>
                  <a:srgbClr val="4FC3F7"/>
                </a:solidFill>
                <a:latin typeface="Segoe UI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78407" y="4305909"/>
            <a:ext cx="38404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1">
                <a:solidFill>
                  <a:srgbClr val="8C9EB0"/>
                </a:solidFill>
                <a:latin typeface="Segoe UI"/>
              </a:rPr>
              <a:t>10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417319" y="4305909"/>
            <a:ext cx="65836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8C9EB0"/>
                </a:solidFill>
                <a:latin typeface="Segoe UI"/>
              </a:rPr>
              <a:t>Jul 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130552" y="4296765"/>
            <a:ext cx="30632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E8EEF4"/>
                </a:solidFill>
                <a:latin typeface="Segoe UI"/>
              </a:rPr>
              <a:t>Whitehorse → Beaver Creek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212080" y="4296765"/>
            <a:ext cx="62179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1">
                <a:solidFill>
                  <a:srgbClr val="E8EEF4"/>
                </a:solidFill>
                <a:latin typeface="Segoe UI"/>
              </a:rPr>
              <a:t>290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7" y="4608576"/>
            <a:ext cx="38404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1">
                <a:solidFill>
                  <a:srgbClr val="8C9EB0"/>
                </a:solidFill>
                <a:latin typeface="Segoe UI"/>
              </a:rPr>
              <a:t>11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417319" y="4608576"/>
            <a:ext cx="65836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8C9EB0"/>
                </a:solidFill>
                <a:latin typeface="Segoe UI"/>
              </a:rPr>
              <a:t>Jul 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130552" y="4599431"/>
            <a:ext cx="30632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E8EEF4"/>
                </a:solidFill>
                <a:latin typeface="Segoe UI"/>
              </a:rPr>
              <a:t>Beaver Creek → Fairbanks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12080" y="4599431"/>
            <a:ext cx="62179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1">
                <a:solidFill>
                  <a:srgbClr val="E8EEF4"/>
                </a:solidFill>
                <a:latin typeface="Segoe UI"/>
              </a:rPr>
              <a:t>310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68680" y="4883810"/>
            <a:ext cx="5074920" cy="274320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78407" y="4911242"/>
            <a:ext cx="38404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1">
                <a:solidFill>
                  <a:srgbClr val="8C9EB0"/>
                </a:solidFill>
                <a:latin typeface="Segoe UI"/>
              </a:rPr>
              <a:t>12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417319" y="4911242"/>
            <a:ext cx="65836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8C9EB0"/>
                </a:solidFill>
                <a:latin typeface="Segoe UI"/>
              </a:rPr>
              <a:t>Jul 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130552" y="4902098"/>
            <a:ext cx="30632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1">
                <a:solidFill>
                  <a:srgbClr val="4FC3F7"/>
                </a:solidFill>
                <a:latin typeface="Segoe UI"/>
              </a:rPr>
              <a:t>★ FAIRBANKS — Dalton prep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212080" y="4902098"/>
            <a:ext cx="62179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1">
                <a:solidFill>
                  <a:srgbClr val="4FC3F7"/>
                </a:solidFill>
                <a:latin typeface="Segoe UI"/>
              </a:rPr>
              <a:t>—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68680" y="5186476"/>
            <a:ext cx="5074920" cy="274320"/>
          </a:xfrm>
          <a:prstGeom prst="roundRect">
            <a:avLst>
              <a:gd name="adj" fmla="val 5000"/>
            </a:avLst>
          </a:prstGeom>
          <a:solidFill>
            <a:srgbClr val="2235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78407" y="5213908"/>
            <a:ext cx="38404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1">
                <a:solidFill>
                  <a:srgbClr val="8C9EB0"/>
                </a:solidFill>
                <a:latin typeface="Segoe UI"/>
              </a:rPr>
              <a:t>13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417319" y="5213908"/>
            <a:ext cx="65836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8C9EB0"/>
                </a:solidFill>
                <a:latin typeface="Segoe UI"/>
              </a:rPr>
              <a:t>Jul 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130552" y="5204764"/>
            <a:ext cx="30632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1">
                <a:solidFill>
                  <a:srgbClr val="F5A623"/>
                </a:solidFill>
                <a:latin typeface="Segoe UI"/>
              </a:rPr>
              <a:t>Fairbanks → Coldfoot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212080" y="5204764"/>
            <a:ext cx="62179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1">
                <a:solidFill>
                  <a:srgbClr val="F5A623"/>
                </a:solidFill>
                <a:latin typeface="Segoe UI"/>
              </a:rPr>
              <a:t>260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68680" y="5489143"/>
            <a:ext cx="5074920" cy="274320"/>
          </a:xfrm>
          <a:prstGeom prst="roundRect">
            <a:avLst>
              <a:gd name="adj" fmla="val 5000"/>
            </a:avLst>
          </a:prstGeom>
          <a:solidFill>
            <a:srgbClr val="2235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78407" y="5516575"/>
            <a:ext cx="38404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1">
                <a:solidFill>
                  <a:srgbClr val="8C9EB0"/>
                </a:solidFill>
                <a:latin typeface="Segoe UI"/>
              </a:rPr>
              <a:t>14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417319" y="5516575"/>
            <a:ext cx="65836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8C9EB0"/>
                </a:solidFill>
                <a:latin typeface="Segoe UI"/>
              </a:rPr>
              <a:t>Jul 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130552" y="5507431"/>
            <a:ext cx="30632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1">
                <a:solidFill>
                  <a:srgbClr val="F5A623"/>
                </a:solidFill>
                <a:latin typeface="Segoe UI"/>
              </a:rPr>
              <a:t>COLDFOOT → DEADHORSE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212080" y="5507431"/>
            <a:ext cx="62179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1">
                <a:solidFill>
                  <a:srgbClr val="F5A623"/>
                </a:solidFill>
                <a:latin typeface="Segoe UI"/>
              </a:rPr>
              <a:t>240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868680" y="5791809"/>
            <a:ext cx="5074920" cy="274320"/>
          </a:xfrm>
          <a:prstGeom prst="roundRect">
            <a:avLst>
              <a:gd name="adj" fmla="val 5000"/>
            </a:avLst>
          </a:prstGeom>
          <a:solidFill>
            <a:srgbClr val="2235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78407" y="5819241"/>
            <a:ext cx="38404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1">
                <a:solidFill>
                  <a:srgbClr val="8C9EB0"/>
                </a:solidFill>
                <a:latin typeface="Segoe UI"/>
              </a:rPr>
              <a:t>15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417319" y="5819241"/>
            <a:ext cx="65836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8C9EB0"/>
                </a:solidFill>
                <a:latin typeface="Segoe UI"/>
              </a:rPr>
              <a:t>Jul 10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130552" y="5810097"/>
            <a:ext cx="30632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1">
                <a:solidFill>
                  <a:srgbClr val="F5A623"/>
                </a:solidFill>
                <a:latin typeface="Segoe UI"/>
              </a:rPr>
              <a:t>★ DEADHORSE — ARCTIC OCEAN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212080" y="5810097"/>
            <a:ext cx="62179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1">
                <a:solidFill>
                  <a:srgbClr val="F5A623"/>
                </a:solidFill>
                <a:latin typeface="Segoe UI"/>
              </a:rPr>
              <a:t>—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868680" y="6094476"/>
            <a:ext cx="5074920" cy="274320"/>
          </a:xfrm>
          <a:prstGeom prst="roundRect">
            <a:avLst>
              <a:gd name="adj" fmla="val 5000"/>
            </a:avLst>
          </a:prstGeom>
          <a:solidFill>
            <a:srgbClr val="2235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78407" y="6121908"/>
            <a:ext cx="38404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1">
                <a:solidFill>
                  <a:srgbClr val="8C9EB0"/>
                </a:solidFill>
                <a:latin typeface="Segoe UI"/>
              </a:rPr>
              <a:t>16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417319" y="6121908"/>
            <a:ext cx="65836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8C9EB0"/>
                </a:solidFill>
                <a:latin typeface="Segoe UI"/>
              </a:rPr>
              <a:t>Jul 11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130552" y="6112764"/>
            <a:ext cx="30632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1">
                <a:solidFill>
                  <a:srgbClr val="F5A623"/>
                </a:solidFill>
                <a:latin typeface="Segoe UI"/>
              </a:rPr>
              <a:t>Deadhorse → Coldfoot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212080" y="6112764"/>
            <a:ext cx="62179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1">
                <a:solidFill>
                  <a:srgbClr val="F5A623"/>
                </a:solidFill>
                <a:latin typeface="Segoe UI"/>
              </a:rPr>
              <a:t>240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6217920" y="1554480"/>
            <a:ext cx="5074920" cy="274320"/>
          </a:xfrm>
          <a:prstGeom prst="roundRect">
            <a:avLst>
              <a:gd name="adj" fmla="val 5000"/>
            </a:avLst>
          </a:prstGeom>
          <a:solidFill>
            <a:srgbClr val="2235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327648" y="1581912"/>
            <a:ext cx="38404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1">
                <a:solidFill>
                  <a:srgbClr val="8C9EB0"/>
                </a:solidFill>
                <a:latin typeface="Segoe UI"/>
              </a:rPr>
              <a:t>17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766559" y="1581912"/>
            <a:ext cx="65836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8C9EB0"/>
                </a:solidFill>
                <a:latin typeface="Segoe UI"/>
              </a:rPr>
              <a:t>Jul 12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479792" y="1572768"/>
            <a:ext cx="30632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1">
                <a:solidFill>
                  <a:srgbClr val="F5A623"/>
                </a:solidFill>
                <a:latin typeface="Segoe UI"/>
              </a:rPr>
              <a:t>Coldfoot → Fairbanks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561320" y="1572768"/>
            <a:ext cx="62179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1">
                <a:solidFill>
                  <a:srgbClr val="F5A623"/>
                </a:solidFill>
                <a:latin typeface="Segoe UI"/>
              </a:rPr>
              <a:t>260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6217920" y="1857146"/>
            <a:ext cx="5074920" cy="274320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6327648" y="1884578"/>
            <a:ext cx="38404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1">
                <a:solidFill>
                  <a:srgbClr val="8C9EB0"/>
                </a:solidFill>
                <a:latin typeface="Segoe UI"/>
              </a:rPr>
              <a:t>18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766559" y="1884578"/>
            <a:ext cx="65836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8C9EB0"/>
                </a:solidFill>
                <a:latin typeface="Segoe UI"/>
              </a:rPr>
              <a:t>Jul 13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479792" y="1875434"/>
            <a:ext cx="30632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1">
                <a:solidFill>
                  <a:srgbClr val="4FC3F7"/>
                </a:solidFill>
                <a:latin typeface="Segoe UI"/>
              </a:rPr>
              <a:t>★ FAIRBANKS — wash the bike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561320" y="1875434"/>
            <a:ext cx="62179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1">
                <a:solidFill>
                  <a:srgbClr val="4FC3F7"/>
                </a:solidFill>
                <a:latin typeface="Segoe UI"/>
              </a:rPr>
              <a:t>—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6217920" y="2159812"/>
            <a:ext cx="5074920" cy="274320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327648" y="2187244"/>
            <a:ext cx="38404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1">
                <a:solidFill>
                  <a:srgbClr val="8C9EB0"/>
                </a:solidFill>
                <a:latin typeface="Segoe UI"/>
              </a:rPr>
              <a:t>19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766559" y="2187244"/>
            <a:ext cx="65836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8C9EB0"/>
                </a:solidFill>
                <a:latin typeface="Segoe UI"/>
              </a:rPr>
              <a:t>Jul 14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479792" y="2178100"/>
            <a:ext cx="30632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1">
                <a:solidFill>
                  <a:srgbClr val="4CAF7D"/>
                </a:solidFill>
                <a:latin typeface="Segoe UI"/>
              </a:rPr>
              <a:t>Fairbanks → DENALI NP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561320" y="2178100"/>
            <a:ext cx="62179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1">
                <a:solidFill>
                  <a:srgbClr val="4CAF7D"/>
                </a:solidFill>
                <a:latin typeface="Segoe UI"/>
              </a:rPr>
              <a:t>125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6217920" y="2462479"/>
            <a:ext cx="5074920" cy="274320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6327648" y="2489911"/>
            <a:ext cx="38404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1">
                <a:solidFill>
                  <a:srgbClr val="8C9EB0"/>
                </a:solidFill>
                <a:latin typeface="Segoe UI"/>
              </a:rPr>
              <a:t>20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766559" y="2489911"/>
            <a:ext cx="65836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8C9EB0"/>
                </a:solidFill>
                <a:latin typeface="Segoe UI"/>
              </a:rPr>
              <a:t>Jul 15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479792" y="2480767"/>
            <a:ext cx="30632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1">
                <a:solidFill>
                  <a:srgbClr val="4CAF7D"/>
                </a:solidFill>
                <a:latin typeface="Segoe UI"/>
              </a:rPr>
              <a:t>★ DENALI — park bus tour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561320" y="2480767"/>
            <a:ext cx="62179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1">
                <a:solidFill>
                  <a:srgbClr val="4CAF7D"/>
                </a:solidFill>
                <a:latin typeface="Segoe UI"/>
              </a:rPr>
              <a:t>—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6217920" y="2765145"/>
            <a:ext cx="5074920" cy="274320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27648" y="2792577"/>
            <a:ext cx="38404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1">
                <a:solidFill>
                  <a:srgbClr val="8C9EB0"/>
                </a:solidFill>
                <a:latin typeface="Segoe UI"/>
              </a:rPr>
              <a:t>21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766559" y="2792577"/>
            <a:ext cx="65836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8C9EB0"/>
                </a:solidFill>
                <a:latin typeface="Segoe UI"/>
              </a:rPr>
              <a:t>Jul 16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479792" y="2783433"/>
            <a:ext cx="30632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1">
                <a:solidFill>
                  <a:srgbClr val="4CAF7D"/>
                </a:solidFill>
                <a:latin typeface="Segoe UI"/>
              </a:rPr>
              <a:t>DENALI HWY → Tangle Lakes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561320" y="2783433"/>
            <a:ext cx="62179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1">
                <a:solidFill>
                  <a:srgbClr val="4CAF7D"/>
                </a:solidFill>
                <a:latin typeface="Segoe UI"/>
              </a:rPr>
              <a:t>140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6217920" y="3067812"/>
            <a:ext cx="5074920" cy="274320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6327648" y="3095244"/>
            <a:ext cx="38404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1">
                <a:solidFill>
                  <a:srgbClr val="8C9EB0"/>
                </a:solidFill>
                <a:latin typeface="Segoe UI"/>
              </a:rPr>
              <a:t>22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766559" y="3095244"/>
            <a:ext cx="65836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8C9EB0"/>
                </a:solidFill>
                <a:latin typeface="Segoe UI"/>
              </a:rPr>
              <a:t>Jul 17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7479792" y="3086100"/>
            <a:ext cx="30632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1">
                <a:solidFill>
                  <a:srgbClr val="4CAF7D"/>
                </a:solidFill>
                <a:latin typeface="Segoe UI"/>
              </a:rPr>
              <a:t>Tangle Lks → Delta Jct → Tok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561320" y="3086100"/>
            <a:ext cx="62179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1">
                <a:solidFill>
                  <a:srgbClr val="4CAF7D"/>
                </a:solidFill>
                <a:latin typeface="Segoe UI"/>
              </a:rPr>
              <a:t>210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6217920" y="3370478"/>
            <a:ext cx="5074920" cy="274320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327648" y="3397910"/>
            <a:ext cx="38404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1">
                <a:solidFill>
                  <a:srgbClr val="8C9EB0"/>
                </a:solidFill>
                <a:latin typeface="Segoe UI"/>
              </a:rPr>
              <a:t>23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766559" y="3397910"/>
            <a:ext cx="65836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8C9EB0"/>
                </a:solidFill>
                <a:latin typeface="Segoe UI"/>
              </a:rPr>
              <a:t>Jul 18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479792" y="3388766"/>
            <a:ext cx="30632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1">
                <a:solidFill>
                  <a:srgbClr val="4FC3F7"/>
                </a:solidFill>
                <a:latin typeface="Segoe UI"/>
              </a:rPr>
              <a:t>TOP OF THE WORLD → Dawson City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0561320" y="3388766"/>
            <a:ext cx="62179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1">
                <a:solidFill>
                  <a:srgbClr val="4FC3F7"/>
                </a:solidFill>
                <a:latin typeface="Segoe UI"/>
              </a:rPr>
              <a:t>197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6217920" y="3673144"/>
            <a:ext cx="5074920" cy="274320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6327648" y="3700576"/>
            <a:ext cx="38404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1">
                <a:solidFill>
                  <a:srgbClr val="8C9EB0"/>
                </a:solidFill>
                <a:latin typeface="Segoe UI"/>
              </a:rPr>
              <a:t>24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6766559" y="3700576"/>
            <a:ext cx="65836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8C9EB0"/>
                </a:solidFill>
                <a:latin typeface="Segoe UI"/>
              </a:rPr>
              <a:t>Jul 19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479792" y="3691432"/>
            <a:ext cx="30632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1">
                <a:solidFill>
                  <a:srgbClr val="4FC3F7"/>
                </a:solidFill>
                <a:latin typeface="Segoe UI"/>
              </a:rPr>
              <a:t>★ DAWSON CITY — rest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561320" y="3691432"/>
            <a:ext cx="62179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1">
                <a:solidFill>
                  <a:srgbClr val="4FC3F7"/>
                </a:solidFill>
                <a:latin typeface="Segoe UI"/>
              </a:rPr>
              <a:t>—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6217920" y="3975811"/>
            <a:ext cx="5074920" cy="274320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27648" y="4003243"/>
            <a:ext cx="38404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1">
                <a:solidFill>
                  <a:srgbClr val="8C9EB0"/>
                </a:solidFill>
                <a:latin typeface="Segoe UI"/>
              </a:rPr>
              <a:t>25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766559" y="4003243"/>
            <a:ext cx="65836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8C9EB0"/>
                </a:solidFill>
                <a:latin typeface="Segoe UI"/>
              </a:rPr>
              <a:t>Jul 20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479792" y="3994099"/>
            <a:ext cx="30632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1">
                <a:solidFill>
                  <a:srgbClr val="4FC3F7"/>
                </a:solidFill>
                <a:latin typeface="Segoe UI"/>
              </a:rPr>
              <a:t>Dawson City → Whitehorse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561320" y="3994099"/>
            <a:ext cx="62179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1">
                <a:solidFill>
                  <a:srgbClr val="4FC3F7"/>
                </a:solidFill>
                <a:latin typeface="Segoe UI"/>
              </a:rPr>
              <a:t>331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6327648" y="4305909"/>
            <a:ext cx="38404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1">
                <a:solidFill>
                  <a:srgbClr val="8C9EB0"/>
                </a:solidFill>
                <a:latin typeface="Segoe UI"/>
              </a:rPr>
              <a:t>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6766559" y="4305909"/>
            <a:ext cx="65836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8C9EB0"/>
                </a:solidFill>
                <a:latin typeface="Segoe UI"/>
              </a:rPr>
              <a:t>Jul 21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7479792" y="4296765"/>
            <a:ext cx="30632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E8EEF4"/>
                </a:solidFill>
                <a:latin typeface="Segoe UI"/>
              </a:rPr>
              <a:t>Whitehorse → Watson Lake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0561320" y="4296765"/>
            <a:ext cx="62179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1">
                <a:solidFill>
                  <a:srgbClr val="E8EEF4"/>
                </a:solidFill>
                <a:latin typeface="Segoe UI"/>
              </a:rPr>
              <a:t>275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327648" y="4608576"/>
            <a:ext cx="38404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1">
                <a:solidFill>
                  <a:srgbClr val="8C9EB0"/>
                </a:solidFill>
                <a:latin typeface="Segoe UI"/>
              </a:rPr>
              <a:t>27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766559" y="4608576"/>
            <a:ext cx="65836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8C9EB0"/>
                </a:solidFill>
                <a:latin typeface="Segoe UI"/>
              </a:rPr>
              <a:t>Jul 22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7479792" y="4599431"/>
            <a:ext cx="30632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E8EEF4"/>
                </a:solidFill>
                <a:latin typeface="Segoe UI"/>
              </a:rPr>
              <a:t>Watson Lake → Fort Nelson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0561320" y="4599431"/>
            <a:ext cx="62179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1">
                <a:solidFill>
                  <a:srgbClr val="E8EEF4"/>
                </a:solidFill>
                <a:latin typeface="Segoe UI"/>
              </a:rPr>
              <a:t>325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6327648" y="4911242"/>
            <a:ext cx="38404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1">
                <a:solidFill>
                  <a:srgbClr val="8C9EB0"/>
                </a:solidFill>
                <a:latin typeface="Segoe UI"/>
              </a:rPr>
              <a:t>28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6766559" y="4911242"/>
            <a:ext cx="65836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8C9EB0"/>
                </a:solidFill>
                <a:latin typeface="Segoe UI"/>
              </a:rPr>
              <a:t>Jul 23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7479792" y="4902098"/>
            <a:ext cx="30632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E8EEF4"/>
                </a:solidFill>
                <a:latin typeface="Segoe UI"/>
              </a:rPr>
              <a:t>Fort Nelson → Dawson Creek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0561320" y="4902098"/>
            <a:ext cx="62179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1">
                <a:solidFill>
                  <a:srgbClr val="E8EEF4"/>
                </a:solidFill>
                <a:latin typeface="Segoe UI"/>
              </a:rPr>
              <a:t>280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6327648" y="5213908"/>
            <a:ext cx="38404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1">
                <a:solidFill>
                  <a:srgbClr val="8C9EB0"/>
                </a:solidFill>
                <a:latin typeface="Segoe UI"/>
              </a:rPr>
              <a:t>29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6766559" y="5213908"/>
            <a:ext cx="65836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8C9EB0"/>
                </a:solidFill>
                <a:latin typeface="Segoe UI"/>
              </a:rPr>
              <a:t>Jul 24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7479792" y="5204764"/>
            <a:ext cx="30632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E8EEF4"/>
                </a:solidFill>
                <a:latin typeface="Segoe UI"/>
              </a:rPr>
              <a:t>Dawson Creek → Prince George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561320" y="5204764"/>
            <a:ext cx="62179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1">
                <a:solidFill>
                  <a:srgbClr val="E8EEF4"/>
                </a:solidFill>
                <a:latin typeface="Segoe UI"/>
              </a:rPr>
              <a:t>250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27648" y="5516575"/>
            <a:ext cx="38404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1">
                <a:solidFill>
                  <a:srgbClr val="8C9EB0"/>
                </a:solidFill>
                <a:latin typeface="Segoe UI"/>
              </a:rPr>
              <a:t>30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6766559" y="5516575"/>
            <a:ext cx="65836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8C9EB0"/>
                </a:solidFill>
                <a:latin typeface="Segoe UI"/>
              </a:rPr>
              <a:t>Jul 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7479792" y="5507431"/>
            <a:ext cx="30632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E8EEF4"/>
                </a:solidFill>
                <a:latin typeface="Segoe UI"/>
              </a:rPr>
              <a:t>Prince George → Cache Creek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561320" y="5507431"/>
            <a:ext cx="62179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1">
                <a:solidFill>
                  <a:srgbClr val="E8EEF4"/>
                </a:solidFill>
                <a:latin typeface="Segoe UI"/>
              </a:rPr>
              <a:t>275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327648" y="5819241"/>
            <a:ext cx="38404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1">
                <a:solidFill>
                  <a:srgbClr val="8C9EB0"/>
                </a:solidFill>
                <a:latin typeface="Segoe UI"/>
              </a:rPr>
              <a:t>31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766559" y="5819241"/>
            <a:ext cx="65836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8C9EB0"/>
                </a:solidFill>
                <a:latin typeface="Segoe UI"/>
              </a:rPr>
              <a:t>Jul 26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479792" y="5810097"/>
            <a:ext cx="30632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E8EEF4"/>
                </a:solidFill>
                <a:latin typeface="Segoe UI"/>
              </a:rPr>
              <a:t>Cache Creek → SEATTLE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561320" y="5810097"/>
            <a:ext cx="62179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1">
                <a:solidFill>
                  <a:srgbClr val="E8EEF4"/>
                </a:solidFill>
                <a:latin typeface="Segoe UI"/>
              </a:rPr>
              <a:t>340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881360" y="6419088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8C9EB0"/>
                </a:solidFill>
                <a:latin typeface="Segoe UI"/>
              </a:rPr>
              <a:t>15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40080" y="641908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8C9EB0"/>
                </a:solidFill>
                <a:latin typeface="Segoe UI"/>
              </a:rPr>
              <a:t>Seattle → Deadhorse  ·  2002 BMW F650GS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54864" cy="384048"/>
          </a:xfrm>
          <a:prstGeom prst="rect">
            <a:avLst/>
          </a:prstGeom>
          <a:solidFill>
            <a:srgbClr val="4CAF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54864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4CAF7D"/>
                </a:solidFill>
                <a:latin typeface="Segoe UI"/>
              </a:rPr>
              <a:t>BUDGET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822960"/>
            <a:ext cx="10698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900" b="1">
                <a:solidFill>
                  <a:srgbClr val="E8EEF4"/>
                </a:solidFill>
                <a:latin typeface="Segoe UI Light"/>
              </a:rPr>
              <a:t>≈ $9,600 all-in.  (Denali +$900 · Top of the World +$400)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53619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4FC3F7"/>
                </a:solidFill>
                <a:latin typeface="Segoe UI"/>
              </a:rPr>
              <a:t>ON-ROAD  (31 days)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847088"/>
            <a:ext cx="3749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E8EEF4"/>
                </a:solidFill>
                <a:latin typeface="Segoe UI"/>
              </a:rPr>
              <a:t>Fuel — 124 gal @ ~$5.25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09160" y="1847088"/>
            <a:ext cx="12344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1">
                <a:solidFill>
                  <a:srgbClr val="E8EEF4"/>
                </a:solidFill>
                <a:latin typeface="Segoe UI"/>
              </a:rPr>
              <a:t>$652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078431"/>
            <a:ext cx="3749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E8EEF4"/>
                </a:solidFill>
                <a:latin typeface="Segoe UI"/>
              </a:rPr>
              <a:t>Lodging — Coldfoot ×2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09160" y="2078431"/>
            <a:ext cx="12344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1">
                <a:solidFill>
                  <a:srgbClr val="E8EEF4"/>
                </a:solidFill>
                <a:latin typeface="Segoe UI"/>
              </a:rPr>
              <a:t>$500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09774"/>
            <a:ext cx="3749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E8EEF4"/>
                </a:solidFill>
                <a:latin typeface="Segoe UI"/>
              </a:rPr>
              <a:t>Lodging — Deadhorse ×2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9160" y="2309774"/>
            <a:ext cx="12344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1">
                <a:solidFill>
                  <a:srgbClr val="E8EEF4"/>
                </a:solidFill>
                <a:latin typeface="Segoe UI"/>
              </a:rPr>
              <a:t>$510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541117"/>
            <a:ext cx="3749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E8EEF4"/>
                </a:solidFill>
                <a:latin typeface="Segoe UI"/>
              </a:rPr>
              <a:t>Lodging — Fairbanks ×4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09160" y="2541117"/>
            <a:ext cx="12344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1">
                <a:solidFill>
                  <a:srgbClr val="E8EEF4"/>
                </a:solidFill>
                <a:latin typeface="Segoe UI"/>
              </a:rPr>
              <a:t>$560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772460"/>
            <a:ext cx="3749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1">
                <a:solidFill>
                  <a:srgbClr val="4CAF7D"/>
                </a:solidFill>
                <a:latin typeface="Segoe UI"/>
              </a:rPr>
              <a:t>Lodging — Denali ×2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09160" y="2772460"/>
            <a:ext cx="12344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1">
                <a:solidFill>
                  <a:srgbClr val="4CAF7D"/>
                </a:solidFill>
                <a:latin typeface="Segoe UI"/>
              </a:rPr>
              <a:t>$360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003804"/>
            <a:ext cx="3749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E8EEF4"/>
                </a:solidFill>
                <a:latin typeface="Segoe UI"/>
              </a:rPr>
              <a:t>Lodging — Tangle Lakes ×1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09160" y="3003804"/>
            <a:ext cx="12344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1">
                <a:solidFill>
                  <a:srgbClr val="E8EEF4"/>
                </a:solidFill>
                <a:latin typeface="Segoe UI"/>
              </a:rPr>
              <a:t>$120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3235147"/>
            <a:ext cx="3749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1">
                <a:solidFill>
                  <a:srgbClr val="4CAF7D"/>
                </a:solidFill>
                <a:latin typeface="Segoe UI"/>
              </a:rPr>
              <a:t>Lodging — Dawson City ×2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09160" y="3235147"/>
            <a:ext cx="12344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1">
                <a:solidFill>
                  <a:srgbClr val="4CAF7D"/>
                </a:solidFill>
                <a:latin typeface="Segoe UI"/>
              </a:rPr>
              <a:t>$300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3466490"/>
            <a:ext cx="3749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E8EEF4"/>
                </a:solidFill>
                <a:latin typeface="Segoe UI"/>
              </a:rPr>
              <a:t>Lodging — other hotels ×6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09160" y="3466490"/>
            <a:ext cx="12344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1">
                <a:solidFill>
                  <a:srgbClr val="E8EEF4"/>
                </a:solidFill>
                <a:latin typeface="Segoe UI"/>
              </a:rPr>
              <a:t>$780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3697833"/>
            <a:ext cx="3749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E8EEF4"/>
                </a:solidFill>
                <a:latin typeface="Segoe UI"/>
              </a:rPr>
              <a:t>Camping ×11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09160" y="3697833"/>
            <a:ext cx="12344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1">
                <a:solidFill>
                  <a:srgbClr val="E8EEF4"/>
                </a:solidFill>
                <a:latin typeface="Segoe UI"/>
              </a:rPr>
              <a:t>$275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3929176"/>
            <a:ext cx="3749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E8EEF4"/>
                </a:solidFill>
                <a:latin typeface="Segoe UI"/>
              </a:rPr>
              <a:t>Food — ~$50/day × 31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09160" y="3929176"/>
            <a:ext cx="12344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1">
                <a:solidFill>
                  <a:srgbClr val="E8EEF4"/>
                </a:solidFill>
                <a:latin typeface="Segoe UI"/>
              </a:rPr>
              <a:t>$1,550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4160520"/>
            <a:ext cx="3749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E8EEF4"/>
                </a:solidFill>
                <a:latin typeface="Segoe UI"/>
              </a:rPr>
              <a:t>Arctic Ocean shuttle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09160" y="4160520"/>
            <a:ext cx="12344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1">
                <a:solidFill>
                  <a:srgbClr val="E8EEF4"/>
                </a:solidFill>
                <a:latin typeface="Segoe UI"/>
              </a:rPr>
              <a:t>$89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391863"/>
            <a:ext cx="3749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E8EEF4"/>
                </a:solidFill>
                <a:latin typeface="Segoe UI"/>
              </a:rPr>
              <a:t>Denali park bus tour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09160" y="4391863"/>
            <a:ext cx="12344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1">
                <a:solidFill>
                  <a:srgbClr val="E8EEF4"/>
                </a:solidFill>
                <a:latin typeface="Segoe UI"/>
              </a:rPr>
              <a:t>$110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4623206"/>
            <a:ext cx="3749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E8EEF4"/>
                </a:solidFill>
                <a:latin typeface="Segoe UI"/>
              </a:rPr>
              <a:t>Misc — wash, laundry, sundries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09160" y="4623206"/>
            <a:ext cx="12344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1">
                <a:solidFill>
                  <a:srgbClr val="E8EEF4"/>
                </a:solidFill>
                <a:latin typeface="Segoe UI"/>
              </a:rPr>
              <a:t>$150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68680" y="4864608"/>
            <a:ext cx="5120640" cy="365760"/>
          </a:xfrm>
          <a:prstGeom prst="roundRect">
            <a:avLst>
              <a:gd name="adj" fmla="val 5000"/>
            </a:avLst>
          </a:prstGeom>
          <a:solidFill>
            <a:srgbClr val="2235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4400" y="4937760"/>
            <a:ext cx="32918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4FC3F7"/>
                </a:solidFill>
                <a:latin typeface="Segoe UI"/>
              </a:rPr>
              <a:t>SUBTOTAL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09160" y="4937760"/>
            <a:ext cx="1234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4FC3F7"/>
                </a:solidFill>
                <a:latin typeface="Segoe UI"/>
              </a:rPr>
              <a:t>$6,086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17920" y="1572768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F5A623"/>
                </a:solidFill>
                <a:latin typeface="Segoe UI"/>
              </a:rPr>
              <a:t>PREP &amp; GEAR  (one-time)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63640" y="1901952"/>
            <a:ext cx="374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E8EEF4"/>
                </a:solidFill>
                <a:latin typeface="Segoe UI"/>
              </a:rPr>
              <a:t>Heidenau K60 Scout set + mount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058400" y="1901952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1">
                <a:solidFill>
                  <a:srgbClr val="E8EEF4"/>
                </a:solidFill>
                <a:latin typeface="Segoe UI"/>
              </a:rPr>
              <a:t>$380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63640" y="2176272"/>
            <a:ext cx="374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E8EEF4"/>
                </a:solidFill>
                <a:latin typeface="Segoe UI"/>
              </a:rPr>
              <a:t>Rotopax 2 gal + rack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400" y="2176272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1">
                <a:solidFill>
                  <a:srgbClr val="E8EEF4"/>
                </a:solidFill>
                <a:latin typeface="Segoe UI"/>
              </a:rPr>
              <a:t>$150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63640" y="2450592"/>
            <a:ext cx="374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E8EEF4"/>
                </a:solidFill>
                <a:latin typeface="Segoe UI"/>
              </a:rPr>
              <a:t>Spare fuel pump + controller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058400" y="2450592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1">
                <a:solidFill>
                  <a:srgbClr val="E8EEF4"/>
                </a:solidFill>
                <a:latin typeface="Segoe UI"/>
              </a:rPr>
              <a:t>$350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63640" y="2724912"/>
            <a:ext cx="374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E8EEF4"/>
                </a:solidFill>
                <a:latin typeface="Segoe UI"/>
              </a:rPr>
              <a:t>Chain + sprockets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8400" y="2724912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1">
                <a:solidFill>
                  <a:srgbClr val="E8EEF4"/>
                </a:solidFill>
                <a:latin typeface="Segoe UI"/>
              </a:rPr>
              <a:t>$200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63640" y="2999232"/>
            <a:ext cx="374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E8EEF4"/>
                </a:solidFill>
                <a:latin typeface="Segoe UI"/>
              </a:rPr>
              <a:t>Tubes, filters, oil, consumables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058400" y="2999232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1">
                <a:solidFill>
                  <a:srgbClr val="E8EEF4"/>
                </a:solidFill>
                <a:latin typeface="Segoe UI"/>
              </a:rPr>
              <a:t>$250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263640" y="3273552"/>
            <a:ext cx="374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E8EEF4"/>
                </a:solidFill>
                <a:latin typeface="Segoe UI"/>
              </a:rPr>
              <a:t>Protection (if not fitted)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58400" y="3273552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1">
                <a:solidFill>
                  <a:srgbClr val="E8EEF4"/>
                </a:solidFill>
                <a:latin typeface="Segoe UI"/>
              </a:rPr>
              <a:t>$500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263640" y="3547872"/>
            <a:ext cx="374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E8EEF4"/>
                </a:solidFill>
                <a:latin typeface="Segoe UI"/>
              </a:rPr>
              <a:t>inReach + 2 mo (if not owned)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058400" y="3547872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1">
                <a:solidFill>
                  <a:srgbClr val="E8EEF4"/>
                </a:solidFill>
                <a:latin typeface="Segoe UI"/>
              </a:rPr>
              <a:t>$450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217920" y="4864608"/>
            <a:ext cx="5120640" cy="365760"/>
          </a:xfrm>
          <a:prstGeom prst="roundRect">
            <a:avLst>
              <a:gd name="adj" fmla="val 5000"/>
            </a:avLst>
          </a:prstGeom>
          <a:solidFill>
            <a:srgbClr val="2235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263640" y="4937760"/>
            <a:ext cx="32918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F5A623"/>
                </a:solidFill>
                <a:latin typeface="Segoe UI"/>
              </a:rPr>
              <a:t>SUBTOTAL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058400" y="4937760"/>
            <a:ext cx="1234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F5A623"/>
                </a:solidFill>
                <a:latin typeface="Segoe UI"/>
              </a:rPr>
              <a:t>$2,280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68680" y="5321808"/>
            <a:ext cx="10469880" cy="566928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 w="19050">
            <a:solidFill>
              <a:srgbClr val="4CAF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188720" y="542239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4CAF7D"/>
                </a:solidFill>
                <a:latin typeface="Segoe UI"/>
              </a:rPr>
              <a:t>TOTAL  (incl. 15% contingency)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766560" y="5376672"/>
            <a:ext cx="4389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2100" b="1">
                <a:solidFill>
                  <a:srgbClr val="4CAF7D"/>
                </a:solidFill>
                <a:latin typeface="Segoe UI"/>
              </a:rPr>
              <a:t>≈ $9,600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68680" y="5961888"/>
            <a:ext cx="105156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8C9EB0"/>
                </a:solidFill>
                <a:latin typeface="Segoe UI"/>
              </a:rPr>
              <a:t>Gear already owned → ~$8,500.   On-road only → ~$7,000  (about $225/day).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8C9EB0"/>
                </a:solidFill>
                <a:latin typeface="Segoe UI"/>
              </a:rPr>
              <a:t>Softest numbers: Denali lodging in peak July, and Coldfoot's UNVERIFIED rate — call (907) 474-3500.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881360" y="6419088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8C9EB0"/>
                </a:solidFill>
                <a:latin typeface="Segoe UI"/>
              </a:rPr>
              <a:t>16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0080" y="641908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8C9EB0"/>
                </a:solidFill>
                <a:latin typeface="Segoe UI"/>
              </a:rPr>
              <a:t>Seattle → Deadhorse  ·  2002 BMW F650GS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54864" cy="384048"/>
          </a:xfrm>
          <a:prstGeom prst="rect">
            <a:avLst/>
          </a:prstGeom>
          <a:solidFill>
            <a:srgbClr val="E256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54864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E2564D"/>
                </a:solidFill>
                <a:latin typeface="Segoe UI"/>
              </a:rPr>
              <a:t>WHAT TO BOOK, AND WHEN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822960"/>
            <a:ext cx="10698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900" b="1">
                <a:solidFill>
                  <a:srgbClr val="E8EEF4"/>
                </a:solidFill>
                <a:latin typeface="Segoe UI Light"/>
              </a:rPr>
              <a:t>The Dalton has almost no beds.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002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E8EEF4"/>
                </a:solidFill>
                <a:latin typeface="Segoe UI"/>
              </a:rPr>
              <a:t>Coldfoot and Deadhorse are the scarcest things in the plan. Everything else can be improvised.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1938528"/>
            <a:ext cx="10469880" cy="438912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68680" y="1938528"/>
            <a:ext cx="54864" cy="438912"/>
          </a:xfrm>
          <a:prstGeom prst="rect">
            <a:avLst/>
          </a:prstGeom>
          <a:solidFill>
            <a:srgbClr val="E256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48256"/>
            <a:ext cx="2103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E2564D"/>
                </a:solidFill>
                <a:latin typeface="Segoe UI"/>
              </a:rPr>
              <a:t>NOW → JAN 2027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29000" y="2039112"/>
            <a:ext cx="4572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E8EEF4"/>
                </a:solidFill>
                <a:latin typeface="Segoe UI"/>
              </a:rPr>
              <a:t>Coldfoot × 2 nights  (Jul 8, Jul 11)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057400"/>
            <a:ext cx="3108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1">
                <a:solidFill>
                  <a:srgbClr val="E2564D"/>
                </a:solidFill>
                <a:latin typeface="Segoe UI"/>
              </a:rPr>
              <a:t>SCARCEST BED IN THE PLAN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2436876"/>
            <a:ext cx="10469880" cy="438912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68680" y="2436876"/>
            <a:ext cx="54864" cy="438912"/>
          </a:xfrm>
          <a:prstGeom prst="rect">
            <a:avLst/>
          </a:prstGeom>
          <a:solidFill>
            <a:srgbClr val="E256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88720" y="2546604"/>
            <a:ext cx="2103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E2564D"/>
                </a:solidFill>
                <a:latin typeface="Segoe UI"/>
              </a:rPr>
              <a:t>NOW → JAN 2027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9000" y="2537460"/>
            <a:ext cx="4572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E8EEF4"/>
                </a:solidFill>
                <a:latin typeface="Segoe UI"/>
              </a:rPr>
              <a:t>Deadhorse × 2 nights  (Jul 9, Jul 10)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92440" y="2555748"/>
            <a:ext cx="3108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1">
                <a:solidFill>
                  <a:srgbClr val="E2564D"/>
                </a:solidFill>
                <a:latin typeface="Segoe UI"/>
              </a:rPr>
              <a:t>BOOK ~A YEAR OUT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" y="2935224"/>
            <a:ext cx="10469880" cy="438912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68680" y="2935224"/>
            <a:ext cx="54864" cy="438912"/>
          </a:xfrm>
          <a:prstGeom prst="rect">
            <a:avLst/>
          </a:prstGeom>
          <a:solidFill>
            <a:srgbClr val="4CAF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88720" y="3044952"/>
            <a:ext cx="2103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4CAF7D"/>
                </a:solidFill>
                <a:latin typeface="Segoe UI"/>
              </a:rPr>
              <a:t>~JAN–FEB 2027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29000" y="3035808"/>
            <a:ext cx="4572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E8EEF4"/>
                </a:solidFill>
                <a:latin typeface="Segoe UI"/>
              </a:rPr>
              <a:t>Denali lodging × 2  (Jul 14, 15)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92440" y="3054096"/>
            <a:ext cx="3108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1">
                <a:solidFill>
                  <a:srgbClr val="4CAF7D"/>
                </a:solidFill>
                <a:latin typeface="Segoe UI"/>
              </a:rPr>
              <a:t>PEAK SEASON — BOOKS OUT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" y="3433572"/>
            <a:ext cx="10469880" cy="438912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" y="3433572"/>
            <a:ext cx="54864" cy="438912"/>
          </a:xfrm>
          <a:prstGeom prst="rect">
            <a:avLst/>
          </a:prstGeom>
          <a:solidFill>
            <a:srgbClr val="4CAF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88720" y="3543300"/>
            <a:ext cx="2103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4CAF7D"/>
                </a:solidFill>
                <a:latin typeface="Segoe UI"/>
              </a:rPr>
              <a:t>~FEB–MAR 2027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29000" y="3534156"/>
            <a:ext cx="4572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E8EEF4"/>
                </a:solidFill>
                <a:latin typeface="Segoe UI"/>
              </a:rPr>
              <a:t>Denali park bus tour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92440" y="3552444"/>
            <a:ext cx="3108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1">
                <a:solidFill>
                  <a:srgbClr val="4CAF7D"/>
                </a:solidFill>
                <a:latin typeface="Segoe UI"/>
              </a:rPr>
              <a:t>RESERVATIONS GO FAST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68680" y="3931920"/>
            <a:ext cx="10469880" cy="438912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68680" y="3931920"/>
            <a:ext cx="54864" cy="438912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88720" y="4041648"/>
            <a:ext cx="2103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F5A623"/>
                </a:solidFill>
                <a:latin typeface="Segoe UI"/>
              </a:rPr>
              <a:t>~APR 2027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29000" y="4032504"/>
            <a:ext cx="4572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E8EEF4"/>
                </a:solidFill>
                <a:latin typeface="Segoe UI"/>
              </a:rPr>
              <a:t>Fairbanks ×4 · Whitehorse ×2 · Stewart ×2 · Dawson City ×2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68680" y="4430268"/>
            <a:ext cx="10469880" cy="438912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68680" y="4430268"/>
            <a:ext cx="54864" cy="438912"/>
          </a:xfrm>
          <a:prstGeom prst="rect">
            <a:avLst/>
          </a:prstGeom>
          <a:solidFill>
            <a:srgbClr val="4FC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88720" y="4539996"/>
            <a:ext cx="2103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4FC3F7"/>
                </a:solidFill>
                <a:latin typeface="Segoe UI"/>
              </a:rPr>
              <a:t>~JUN 2027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29000" y="4530852"/>
            <a:ext cx="4572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E8EEF4"/>
                </a:solidFill>
                <a:latin typeface="Segoe UI"/>
              </a:rPr>
              <a:t>Arctic Ocean shuttle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92440" y="4549140"/>
            <a:ext cx="3108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1">
                <a:solidFill>
                  <a:srgbClr val="4FC3F7"/>
                </a:solidFill>
                <a:latin typeface="Segoe UI"/>
              </a:rPr>
              <a:t>24h min — but book weeks out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68680" y="4928616"/>
            <a:ext cx="10469880" cy="438912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68680" y="4928616"/>
            <a:ext cx="54864" cy="438912"/>
          </a:xfrm>
          <a:prstGeom prst="rect">
            <a:avLst/>
          </a:prstGeom>
          <a:solidFill>
            <a:srgbClr val="4FC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88720" y="5038344"/>
            <a:ext cx="2103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4FC3F7"/>
                </a:solidFill>
                <a:latin typeface="Segoe UI"/>
              </a:rPr>
              <a:t>~JUN 2027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429000" y="5029200"/>
            <a:ext cx="4572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E8EEF4"/>
                </a:solidFill>
                <a:latin typeface="Segoe UI"/>
              </a:rPr>
              <a:t>Confirm Poker Creek border hrs + Yukon River ferry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92440" y="5047488"/>
            <a:ext cx="3108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1">
                <a:solidFill>
                  <a:srgbClr val="4FC3F7"/>
                </a:solidFill>
                <a:latin typeface="Segoe UI"/>
              </a:rPr>
              <a:t>OR NO TOP OF THE WORLD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68680" y="5426964"/>
            <a:ext cx="10469880" cy="438912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68680" y="5426964"/>
            <a:ext cx="54864" cy="438912"/>
          </a:xfrm>
          <a:prstGeom prst="rect">
            <a:avLst/>
          </a:prstGeom>
          <a:solidFill>
            <a:srgbClr val="8C9E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88720" y="5536692"/>
            <a:ext cx="2103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8C9EB0"/>
                </a:solidFill>
                <a:latin typeface="Segoe UI"/>
              </a:rPr>
              <a:t>ROLLING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429000" y="5527548"/>
            <a:ext cx="4572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E8EEF4"/>
                </a:solidFill>
                <a:latin typeface="Segoe UI"/>
              </a:rPr>
              <a:t>Everything else — BC/Yukon camps are first-come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68680" y="5961888"/>
            <a:ext cx="10469880" cy="420624"/>
          </a:xfrm>
          <a:prstGeom prst="roundRect">
            <a:avLst>
              <a:gd name="adj" fmla="val 5000"/>
            </a:avLst>
          </a:prstGeom>
          <a:solidFill>
            <a:srgbClr val="22354B"/>
          </a:solidFill>
          <a:ln w="16510">
            <a:solidFill>
              <a:srgbClr val="4CAF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88720" y="605332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4CAF7D"/>
                </a:solidFill>
                <a:latin typeface="Segoe UI"/>
              </a:rPr>
              <a:t>Neither Denali nor Top of the World moved the Dalton dates (Jul 8–12). Coldfoot + Deadhorse bookings still stand.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881360" y="6419088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8C9EB0"/>
                </a:solidFill>
                <a:latin typeface="Segoe UI"/>
              </a:rPr>
              <a:t>17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0080" y="641908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8C9EB0"/>
                </a:solidFill>
                <a:latin typeface="Segoe UI"/>
              </a:rPr>
              <a:t>Seattle → Deadhorse  ·  2002 BMW F650GS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54864" cy="384048"/>
          </a:xfrm>
          <a:prstGeom prst="rect">
            <a:avLst/>
          </a:prstGeom>
          <a:solidFill>
            <a:srgbClr val="4CAF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54864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4CAF7D"/>
                </a:solidFill>
                <a:latin typeface="Segoe UI"/>
              </a:rPr>
              <a:t>WHERE WE 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822960"/>
            <a:ext cx="10698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900" b="1">
                <a:solidFill>
                  <a:srgbClr val="E8EEF4"/>
                </a:solidFill>
                <a:latin typeface="Segoe UI Light"/>
              </a:rPr>
              <a:t>Resolved vs. open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1645920"/>
            <a:ext cx="5120640" cy="3383280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645920"/>
            <a:ext cx="54864" cy="3383280"/>
          </a:xfrm>
          <a:prstGeom prst="rect">
            <a:avLst/>
          </a:prstGeom>
          <a:solidFill>
            <a:srgbClr val="4CAF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1810512"/>
            <a:ext cx="4617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4CAF7D"/>
                </a:solidFill>
                <a:latin typeface="Segoe UI"/>
              </a:rPr>
              <a:t>RESOLVED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103120"/>
            <a:ext cx="4617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4CAF7D"/>
                </a:solidFill>
                <a:latin typeface="Segoe UI"/>
              </a:rPr>
              <a:t>✓  SEASON: summer 2027 — Jun 26 → Jul 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2391156"/>
            <a:ext cx="4617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4CAF7D"/>
                </a:solidFill>
                <a:latin typeface="Segoe UI"/>
              </a:rPr>
              <a:t>✓  31 days · 6,208 mi · ~$9,600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679191"/>
            <a:ext cx="4617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4CAF7D"/>
                </a:solidFill>
                <a:latin typeface="Segoe UI"/>
              </a:rPr>
              <a:t>✓  Denali + Top of the World added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967228"/>
            <a:ext cx="4617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E8EEF4"/>
                </a:solidFill>
                <a:latin typeface="Segoe UI"/>
              </a:rPr>
              <a:t>✓  Destination: Deadhorse, not Nome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3255263"/>
            <a:ext cx="4617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E8EEF4"/>
                </a:solidFill>
                <a:latin typeface="Segoe UI"/>
              </a:rPr>
              <a:t>✓  Bike: 2002 F650GS, base (19"/17")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3543300"/>
            <a:ext cx="4617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E8EEF4"/>
                </a:solidFill>
                <a:latin typeface="Segoe UI"/>
              </a:rPr>
              <a:t>✓  Mechanical refresh complete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3831335"/>
            <a:ext cx="4617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E8EEF4"/>
                </a:solidFill>
                <a:latin typeface="Segoe UI"/>
              </a:rPr>
              <a:t>✓  Fuel: 1–2 gal Rotopax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4119372"/>
            <a:ext cx="4617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E8EEF4"/>
                </a:solidFill>
                <a:latin typeface="Segoe UI"/>
              </a:rPr>
              <a:t>✓  Carry spare fuel pump + controller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407408"/>
            <a:ext cx="4617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E8EEF4"/>
                </a:solidFill>
                <a:latin typeface="Segoe UI"/>
              </a:rPr>
              <a:t>✓  Tires: Heidenau K60 Scout, one set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4695444"/>
            <a:ext cx="4617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E8EEF4"/>
                </a:solidFill>
                <a:latin typeface="Segoe UI"/>
              </a:rPr>
              <a:t>✓  Route: Cassiar N · Dawson City · Alcan 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1645920"/>
            <a:ext cx="5120640" cy="3383280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17920" y="1645920"/>
            <a:ext cx="54864" cy="338328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9672" y="1810512"/>
            <a:ext cx="4617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F5A623"/>
                </a:solidFill>
                <a:latin typeface="Segoe UI"/>
              </a:rPr>
              <a:t>OPEN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19672" y="2103120"/>
            <a:ext cx="461772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>
                <a:solidFill>
                  <a:srgbClr val="F5A623"/>
                </a:solidFill>
                <a:latin typeface="Segoe UI"/>
              </a:rPr>
              <a:t>BOOK COLDFOOT + DEADHORSE.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>
                <a:solidFill>
                  <a:srgbClr val="F5A623"/>
                </a:solidFill>
                <a:latin typeface="Segoe UI"/>
              </a:rPr>
              <a:t>Scarcest beds in the plan — book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>
                <a:solidFill>
                  <a:srgbClr val="F5A623"/>
                </a:solidFill>
                <a:latin typeface="Segoe UI"/>
              </a:rPr>
              <a:t>~a year out. This is now urgent.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19672" y="2816352"/>
            <a:ext cx="461772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E8EEF4"/>
                </a:solidFill>
                <a:latin typeface="Segoe UI"/>
              </a:rPr>
              <a:t>Book Denali lodging + bus tour —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E8EEF4"/>
                </a:solidFill>
                <a:latin typeface="Segoe UI"/>
              </a:rPr>
              <a:t>peak season, they go fast.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19672" y="3328416"/>
            <a:ext cx="461772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E8EEF4"/>
                </a:solidFill>
                <a:latin typeface="Segoe UI"/>
              </a:rPr>
              <a:t>Confirm K60 Scout in 140/80-17 —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E8EEF4"/>
                </a:solidFill>
                <a:latin typeface="Segoe UI"/>
              </a:rPr>
              <a:t>the whole tire plan rests on it.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19672" y="3840480"/>
            <a:ext cx="461772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E8EEF4"/>
                </a:solidFill>
                <a:latin typeface="Segoe UI"/>
              </a:rPr>
              <a:t>Did the refresh cover the strip sensor,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E8EEF4"/>
                </a:solidFill>
                <a:latin typeface="Segoe UI"/>
              </a:rPr>
              <a:t>water pump seal, stator, valves?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19672" y="4370832"/>
            <a:ext cx="4617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E8EEF4"/>
                </a:solidFill>
                <a:latin typeface="Segoe UI"/>
              </a:rPr>
              <a:t>Solo, or with others?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19672" y="4663440"/>
            <a:ext cx="4617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E8EEF4"/>
                </a:solidFill>
                <a:latin typeface="Segoe UI"/>
              </a:rPr>
              <a:t>Shakedown ride — spring 2027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68680" y="5230368"/>
            <a:ext cx="10469880" cy="1005840"/>
          </a:xfrm>
          <a:prstGeom prst="roundRect">
            <a:avLst>
              <a:gd name="adj" fmla="val 5000"/>
            </a:avLst>
          </a:prstGeom>
          <a:solidFill>
            <a:srgbClr val="22354B"/>
          </a:solidFill>
          <a:ln w="19050">
            <a:solidFill>
              <a:srgbClr val="4FC3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88720" y="5358384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4FC3F7"/>
                </a:solidFill>
                <a:latin typeface="Segoe UI"/>
              </a:rPr>
              <a:t>NEXT STEPS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88720" y="5650992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50" b="1">
                <a:solidFill>
                  <a:srgbClr val="E8EEF4"/>
                </a:solidFill>
                <a:latin typeface="Segoe UI"/>
              </a:rPr>
              <a:t>1.  BOOK Coldfoot ×2 + Deadhorse ×2   →   2.  Book Denali lodging + bus tour   →   3.  Confirm K60 in 140/80-17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50" b="1">
                <a:solidFill>
                  <a:srgbClr val="E8EEF4"/>
                </a:solidFill>
                <a:latin typeface="Segoe UI"/>
              </a:rPr>
              <a:t>4.  Fit Rotopax + rack   →   5.  Shakedown ride, loaded, on gravel   →   6.  Confirm insurance valid in Canada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81360" y="6419088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8C9EB0"/>
                </a:solidFill>
                <a:latin typeface="Segoe UI"/>
              </a:rPr>
              <a:t>18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41908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8C9EB0"/>
                </a:solidFill>
                <a:latin typeface="Segoe UI"/>
              </a:rPr>
              <a:t>Seattle → Deadhorse  ·  2002 BMW F650GS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